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9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B1D9-BF7F-C94C-8CA7-7B14E869782B}" type="datetimeFigureOut">
              <a:rPr lang="es-ES" smtClean="0"/>
              <a:t>25/5/26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BD505-D4E6-1E46-8C74-C0D9AF7FAB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6099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B326-E78D-9BFB-6598-89FDE790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2691D12-A3C1-74BA-6973-8EC54A10E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E5E57F1-B772-AF9A-6960-BB13408A8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DF446D-7681-F8BF-9381-64553E702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027DB-6191-F540-88B4-983D69688B5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5147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079B7-F773-F304-0D9C-DF00C68DD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91DD1C-BA1C-1929-730C-215EF82BC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8C7463-68FF-EDE9-A42B-AD4165E8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FA42-3A77-CF4A-85A6-121A95582BCC}" type="datetimeFigureOut">
              <a:rPr lang="es-ES" smtClean="0"/>
              <a:t>25/5/26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0FCACD-161D-19AE-89F6-3650E7DB3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07EE4F-5113-D596-6CE1-20718C74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4CF-EA00-7944-9F9F-4E72F51F65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9058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4A6B1A-574F-ED0E-2A3F-20A7160E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B0513B-ABF4-4267-5201-047F62571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22633B-A80C-3A83-FFDA-6223BF99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FA42-3A77-CF4A-85A6-121A95582BCC}" type="datetimeFigureOut">
              <a:rPr lang="es-ES" smtClean="0"/>
              <a:t>25/5/26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0F615B-16DC-C9E5-BD95-0FA6505C8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9A6C7F-1640-51EB-3D0A-3EA37E896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4CF-EA00-7944-9F9F-4E72F51F65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807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A2FB7-C6AC-22C4-C1E6-4089416C0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5EC534-E996-9559-A35F-0EA042965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2E5426-F9B5-DBA6-9924-F486A5074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FA42-3A77-CF4A-85A6-121A95582BCC}" type="datetimeFigureOut">
              <a:rPr lang="es-ES" smtClean="0"/>
              <a:t>25/5/26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5B9502-16B5-AA8E-603E-B0D97DDEA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77D76C-6C2D-EDF0-4D97-78D3D6A5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4CF-EA00-7944-9F9F-4E72F51F65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9149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3BC53-3293-A782-DF89-86FDE53C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983E37-38DA-E202-C060-35E92C9BA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126FE4-3B91-ABE1-A10C-F2204F564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F738CC-A86F-000A-BB70-8E17D371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FA42-3A77-CF4A-85A6-121A95582BCC}" type="datetimeFigureOut">
              <a:rPr lang="es-ES" smtClean="0"/>
              <a:t>25/5/26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6A6D49-EA48-6126-7EB1-FBECE45B2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048032-ACA7-EB64-8253-5A9D721E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4CF-EA00-7944-9F9F-4E72F51F65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9970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D2EBD-8072-7379-66DF-71352F26D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3452EA-C7B0-72D9-BEE5-07365BB6A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0E46F4-8FA8-BF3B-C786-79C634251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934E9BB-B66F-2425-B8E3-C055D59DF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6E72F0-B662-49D9-ED2A-E3A854A30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98A3066-31F4-1C23-6D7F-49EB1465E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FA42-3A77-CF4A-85A6-121A95582BCC}" type="datetimeFigureOut">
              <a:rPr lang="es-ES" smtClean="0"/>
              <a:t>25/5/26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5FD6555-D1F8-AC5F-E40C-39A01CA7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BC6AEF-0CC5-5B5D-FCE8-584E6153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4CF-EA00-7944-9F9F-4E72F51F65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582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0B867-B164-F596-7A5D-4CA9F8E49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DD4C100-CB10-A5AB-017E-C245DF37E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FA42-3A77-CF4A-85A6-121A95582BCC}" type="datetimeFigureOut">
              <a:rPr lang="es-ES" smtClean="0"/>
              <a:t>25/5/26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F73044B-97AB-772D-6B4B-01C2D1701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7197D0-5E88-CF3C-4C12-C795E0209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4CF-EA00-7944-9F9F-4E72F51F65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5669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5B3B9A2-C28F-FE10-BF38-67E310229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FA42-3A77-CF4A-85A6-121A95582BCC}" type="datetimeFigureOut">
              <a:rPr lang="es-ES" smtClean="0"/>
              <a:t>25/5/26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C4B817A-A2F2-8DF8-FC81-3313CB950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858629-41F7-7569-A16B-C4D01FA3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4CF-EA00-7944-9F9F-4E72F51F65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3448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003A4-A354-4118-59ED-0B4D8D39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397C84-D71D-7491-B009-4AE040D62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69F5DE-80C3-CE32-4C9C-BD345E501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43F3FE-1752-4420-DB33-DAB074BB4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FA42-3A77-CF4A-85A6-121A95582BCC}" type="datetimeFigureOut">
              <a:rPr lang="es-ES" smtClean="0"/>
              <a:t>25/5/26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9FB473-508D-F035-8B2C-94DF81476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16449C-B059-BDFE-8001-63711C64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4CF-EA00-7944-9F9F-4E72F51F65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3977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DC75F-5B5A-747F-7733-B55DA855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09E389E-C37B-3DFB-618D-E35FACF55E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7D9FD0-1CF5-BA93-66B8-2AFB6D460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F865C1-815B-E4EC-B011-9BD77957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FA42-3A77-CF4A-85A6-121A95582BCC}" type="datetimeFigureOut">
              <a:rPr lang="es-ES" smtClean="0"/>
              <a:t>25/5/26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60675A3-D6D6-23B4-4B3D-6D57377C3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8CD942-5A75-1BAA-969E-406CB7499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4CF-EA00-7944-9F9F-4E72F51F65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9208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517B8-30BB-7861-07B2-D3AB26C8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FC59DE-9C00-CA79-958F-49A1536FD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78AFC6-E87F-C521-50A5-83A5EE939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FA42-3A77-CF4A-85A6-121A95582BCC}" type="datetimeFigureOut">
              <a:rPr lang="es-ES" smtClean="0"/>
              <a:t>25/5/26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41A4-A77C-B0DA-5AAE-3389E9FD2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5864B9-E9C3-8AD5-EB4C-9913E65AB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4CF-EA00-7944-9F9F-4E72F51F65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0386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8284DB-75EF-7383-9013-CEE7A05A13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9F7494-82C1-0BF6-2A26-654150D07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E2A800-1137-A7BD-5308-C9A01AA8D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2FA42-3A77-CF4A-85A6-121A95582BCC}" type="datetimeFigureOut">
              <a:rPr lang="es-ES" smtClean="0"/>
              <a:t>25/5/26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C5C4C4-F3D6-1559-D637-EF43F8FE9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AB736E-EAD3-EBC8-65D0-3AC99571F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54CF-EA00-7944-9F9F-4E72F51F65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1525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276861A-8008-45F4-01E2-2286B82F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369E5F-8BDC-FC1B-A7F1-B152D01C6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0A1931-7097-1D6B-110F-C4DD77699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2FA42-3A77-CF4A-85A6-121A95582BCC}" type="datetimeFigureOut">
              <a:rPr lang="es-ES" smtClean="0"/>
              <a:t>25/5/26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74D00-E73A-DE7A-99C0-8CC6A0B61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2E727E-A8A1-5B54-B41E-D9E6328301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154CF-EA00-7944-9F9F-4E72F51F65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27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D8E3D-8EAC-0D58-A5BD-5D23B5788B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1941A8-B5BD-82CA-3201-6DE6943572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041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AE99-8D6B-1A12-AA5A-E12857400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3FC2E25-66E7-2D4F-CD04-982A50220C48}"/>
              </a:ext>
            </a:extLst>
          </p:cNvPr>
          <p:cNvSpPr txBox="1"/>
          <p:nvPr/>
        </p:nvSpPr>
        <p:spPr>
          <a:xfrm>
            <a:off x="1611864" y="816827"/>
            <a:ext cx="24487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FastQC</a:t>
            </a:r>
            <a:r>
              <a:rPr lang="es-ES" dirty="0"/>
              <a:t> (</a:t>
            </a:r>
            <a:r>
              <a:rPr lang="es-ES" dirty="0" err="1"/>
              <a:t>quality</a:t>
            </a:r>
            <a:r>
              <a:rPr lang="es-ES" dirty="0"/>
              <a:t> </a:t>
            </a:r>
            <a:r>
              <a:rPr lang="es-ES" dirty="0" err="1"/>
              <a:t>check</a:t>
            </a:r>
            <a:r>
              <a:rPr lang="es-ES" dirty="0"/>
              <a:t>)</a:t>
            </a:r>
          </a:p>
          <a:p>
            <a:endParaRPr lang="es-ES" dirty="0"/>
          </a:p>
          <a:p>
            <a:r>
              <a:rPr lang="es-ES" dirty="0"/>
              <a:t>         </a:t>
            </a:r>
            <a:r>
              <a:rPr lang="es-ES" dirty="0" err="1"/>
              <a:t>bbduk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0650A7A-5B39-82A8-8803-2C1B36E5B029}"/>
              </a:ext>
            </a:extLst>
          </p:cNvPr>
          <p:cNvSpPr txBox="1"/>
          <p:nvPr/>
        </p:nvSpPr>
        <p:spPr>
          <a:xfrm>
            <a:off x="1784799" y="75623"/>
            <a:ext cx="122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Raw </a:t>
            </a:r>
            <a:r>
              <a:rPr lang="es-ES" dirty="0" err="1"/>
              <a:t>reads</a:t>
            </a:r>
            <a:endParaRPr lang="es-ES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F5A51252-BBF9-D65D-FCA2-121E96BE71F9}"/>
              </a:ext>
            </a:extLst>
          </p:cNvPr>
          <p:cNvCxnSpPr>
            <a:cxnSpLocks/>
          </p:cNvCxnSpPr>
          <p:nvPr/>
        </p:nvCxnSpPr>
        <p:spPr>
          <a:xfrm>
            <a:off x="2458941" y="1670634"/>
            <a:ext cx="0" cy="3266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389371A-BA76-D26D-8331-35582B7C68F5}"/>
              </a:ext>
            </a:extLst>
          </p:cNvPr>
          <p:cNvSpPr txBox="1"/>
          <p:nvPr/>
        </p:nvSpPr>
        <p:spPr>
          <a:xfrm>
            <a:off x="1695068" y="1961200"/>
            <a:ext cx="118487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Assembly</a:t>
            </a:r>
            <a:endParaRPr lang="es-ES" dirty="0"/>
          </a:p>
          <a:p>
            <a:r>
              <a:rPr lang="es-ES" dirty="0" err="1"/>
              <a:t>megahit</a:t>
            </a:r>
            <a:endParaRPr lang="es-ES" dirty="0"/>
          </a:p>
          <a:p>
            <a:r>
              <a:rPr lang="es-ES" sz="1400" dirty="0" err="1"/>
              <a:t>contigs</a:t>
            </a:r>
            <a:endParaRPr lang="es-ES" dirty="0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3B8443AD-A085-3DA8-A693-0D91C64FD67C}"/>
              </a:ext>
            </a:extLst>
          </p:cNvPr>
          <p:cNvCxnSpPr>
            <a:cxnSpLocks/>
          </p:cNvCxnSpPr>
          <p:nvPr/>
        </p:nvCxnSpPr>
        <p:spPr>
          <a:xfrm>
            <a:off x="2458941" y="2511379"/>
            <a:ext cx="0" cy="4660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F72FA73-3FE0-EB7B-58AB-A9DD251BFD49}"/>
              </a:ext>
            </a:extLst>
          </p:cNvPr>
          <p:cNvSpPr txBox="1"/>
          <p:nvPr/>
        </p:nvSpPr>
        <p:spPr>
          <a:xfrm>
            <a:off x="2015563" y="3028878"/>
            <a:ext cx="25007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mapping</a:t>
            </a:r>
            <a:endParaRPr lang="es-ES" dirty="0"/>
          </a:p>
          <a:p>
            <a:r>
              <a:rPr lang="es-ES" dirty="0"/>
              <a:t>Minimap2 +</a:t>
            </a:r>
          </a:p>
          <a:p>
            <a:r>
              <a:rPr lang="es-ES" dirty="0" err="1"/>
              <a:t>Samtools</a:t>
            </a:r>
            <a:r>
              <a:rPr lang="es-ES" dirty="0"/>
              <a:t> </a:t>
            </a:r>
            <a:r>
              <a:rPr lang="es-ES" dirty="0" err="1"/>
              <a:t>bam</a:t>
            </a:r>
            <a:r>
              <a:rPr lang="es-ES" dirty="0"/>
              <a:t> </a:t>
            </a:r>
            <a:r>
              <a:rPr lang="es-ES" dirty="0" err="1"/>
              <a:t>sam</a:t>
            </a:r>
            <a:r>
              <a:rPr lang="es-ES" dirty="0"/>
              <a:t> .</a:t>
            </a:r>
            <a:r>
              <a:rPr lang="es-ES" dirty="0" err="1"/>
              <a:t>tsv</a:t>
            </a:r>
            <a:endParaRPr lang="es-ES" dirty="0"/>
          </a:p>
        </p:txBody>
      </p:sp>
      <p:cxnSp>
        <p:nvCxnSpPr>
          <p:cNvPr id="21" name="Conector angular 20">
            <a:extLst>
              <a:ext uri="{FF2B5EF4-FFF2-40B4-BE49-F238E27FC236}">
                <a16:creationId xmlns:a16="http://schemas.microsoft.com/office/drawing/2014/main" id="{F94F9048-2109-4B6B-B814-4152D8A087BE}"/>
              </a:ext>
            </a:extLst>
          </p:cNvPr>
          <p:cNvCxnSpPr>
            <a:cxnSpLocks/>
            <a:endCxn id="19" idx="1"/>
          </p:cNvCxnSpPr>
          <p:nvPr/>
        </p:nvCxnSpPr>
        <p:spPr>
          <a:xfrm rot="16200000" flipH="1">
            <a:off x="755190" y="2230170"/>
            <a:ext cx="1945100" cy="57564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0FECB6A1-B157-0CFE-F1E0-DE6D44515C18}"/>
              </a:ext>
            </a:extLst>
          </p:cNvPr>
          <p:cNvCxnSpPr>
            <a:cxnSpLocks/>
          </p:cNvCxnSpPr>
          <p:nvPr/>
        </p:nvCxnSpPr>
        <p:spPr>
          <a:xfrm>
            <a:off x="4003613" y="2339077"/>
            <a:ext cx="20301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50AA9D2-6D27-3C2B-E903-83CF88483155}"/>
              </a:ext>
            </a:extLst>
          </p:cNvPr>
          <p:cNvSpPr txBox="1"/>
          <p:nvPr/>
        </p:nvSpPr>
        <p:spPr>
          <a:xfrm>
            <a:off x="4289473" y="2103961"/>
            <a:ext cx="189359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Gene-</a:t>
            </a:r>
            <a:r>
              <a:rPr lang="es-ES" dirty="0" err="1"/>
              <a:t>finding</a:t>
            </a:r>
            <a:endParaRPr lang="es-ES" dirty="0"/>
          </a:p>
          <a:p>
            <a:r>
              <a:rPr lang="es-ES" dirty="0" err="1"/>
              <a:t>Prodigal</a:t>
            </a:r>
            <a:endParaRPr lang="es-ES" dirty="0"/>
          </a:p>
          <a:p>
            <a:r>
              <a:rPr lang="es-ES" dirty="0"/>
              <a:t>-meta</a:t>
            </a:r>
          </a:p>
          <a:p>
            <a:r>
              <a:rPr lang="es-ES" sz="1200" dirty="0" err="1"/>
              <a:t>Contigs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genes/</a:t>
            </a:r>
            <a:r>
              <a:rPr lang="es-ES" sz="1200" dirty="0" err="1"/>
              <a:t>proteins</a:t>
            </a:r>
            <a:endParaRPr lang="es-ES" sz="1200" dirty="0"/>
          </a:p>
        </p:txBody>
      </p: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9D2797F6-B2C3-D372-3225-FC20026D7B2C}"/>
              </a:ext>
            </a:extLst>
          </p:cNvPr>
          <p:cNvCxnSpPr>
            <a:cxnSpLocks/>
          </p:cNvCxnSpPr>
          <p:nvPr/>
        </p:nvCxnSpPr>
        <p:spPr>
          <a:xfrm>
            <a:off x="2443077" y="534327"/>
            <a:ext cx="0" cy="3266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EDDD6F7C-A517-D55F-6F1A-BA78EE878004}"/>
              </a:ext>
            </a:extLst>
          </p:cNvPr>
          <p:cNvCxnSpPr>
            <a:cxnSpLocks/>
          </p:cNvCxnSpPr>
          <p:nvPr/>
        </p:nvCxnSpPr>
        <p:spPr>
          <a:xfrm>
            <a:off x="5726961" y="2344149"/>
            <a:ext cx="1771139" cy="2963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C78E409-3376-FF6B-5B31-67AE7F442FA4}"/>
              </a:ext>
            </a:extLst>
          </p:cNvPr>
          <p:cNvSpPr txBox="1"/>
          <p:nvPr/>
        </p:nvSpPr>
        <p:spPr>
          <a:xfrm>
            <a:off x="7670509" y="2313346"/>
            <a:ext cx="23162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Kofamscan</a:t>
            </a:r>
            <a:r>
              <a:rPr lang="es-ES" dirty="0"/>
              <a:t> (</a:t>
            </a:r>
            <a:r>
              <a:rPr lang="es-ES" dirty="0" err="1"/>
              <a:t>function</a:t>
            </a:r>
            <a:r>
              <a:rPr lang="es-ES" dirty="0"/>
              <a:t>)</a:t>
            </a:r>
          </a:p>
          <a:p>
            <a:r>
              <a:rPr lang="es-ES" dirty="0"/>
              <a:t>(KEGG) .</a:t>
            </a:r>
            <a:r>
              <a:rPr lang="es-ES" dirty="0" err="1"/>
              <a:t>txt</a:t>
            </a:r>
            <a:endParaRPr lang="es-ES" dirty="0"/>
          </a:p>
        </p:txBody>
      </p:sp>
      <p:cxnSp>
        <p:nvCxnSpPr>
          <p:cNvPr id="10" name="Conector angular 9">
            <a:extLst>
              <a:ext uri="{FF2B5EF4-FFF2-40B4-BE49-F238E27FC236}">
                <a16:creationId xmlns:a16="http://schemas.microsoft.com/office/drawing/2014/main" id="{DF3B91D8-F83D-5D38-0330-CA45E1821304}"/>
              </a:ext>
            </a:extLst>
          </p:cNvPr>
          <p:cNvCxnSpPr>
            <a:cxnSpLocks/>
            <a:endCxn id="11" idx="1"/>
          </p:cNvCxnSpPr>
          <p:nvPr/>
        </p:nvCxnSpPr>
        <p:spPr>
          <a:xfrm rot="16200000" flipH="1">
            <a:off x="278502" y="3561578"/>
            <a:ext cx="2641720" cy="37087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89553F9-7807-E986-A24E-AA3DB38A47A8}"/>
              </a:ext>
            </a:extLst>
          </p:cNvPr>
          <p:cNvSpPr txBox="1"/>
          <p:nvPr/>
        </p:nvSpPr>
        <p:spPr>
          <a:xfrm>
            <a:off x="1784799" y="4221489"/>
            <a:ext cx="4827732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binning</a:t>
            </a:r>
            <a:r>
              <a:rPr lang="es-ES" dirty="0"/>
              <a:t> </a:t>
            </a:r>
            <a:r>
              <a:rPr lang="es-ES" dirty="0" err="1"/>
              <a:t>MAGs</a:t>
            </a:r>
            <a:r>
              <a:rPr lang="es-ES" dirty="0"/>
              <a:t> (</a:t>
            </a:r>
            <a:r>
              <a:rPr lang="es-ES" dirty="0" err="1"/>
              <a:t>metagenome</a:t>
            </a:r>
            <a:r>
              <a:rPr lang="es-ES" dirty="0"/>
              <a:t> </a:t>
            </a:r>
            <a:r>
              <a:rPr lang="es-ES" dirty="0" err="1"/>
              <a:t>assebly</a:t>
            </a:r>
            <a:r>
              <a:rPr lang="es-ES" dirty="0"/>
              <a:t> </a:t>
            </a:r>
            <a:r>
              <a:rPr lang="es-ES" dirty="0" err="1"/>
              <a:t>genomes</a:t>
            </a:r>
            <a:r>
              <a:rPr lang="es-ES" dirty="0"/>
              <a:t>)</a:t>
            </a:r>
          </a:p>
          <a:p>
            <a:r>
              <a:rPr lang="es-ES" dirty="0"/>
              <a:t>Metabat2</a:t>
            </a:r>
          </a:p>
          <a:p>
            <a:r>
              <a:rPr lang="es-ES" dirty="0" err="1"/>
              <a:t>comebin</a:t>
            </a:r>
            <a:endParaRPr lang="es-ES" dirty="0"/>
          </a:p>
          <a:p>
            <a:r>
              <a:rPr lang="es-ES" dirty="0" err="1"/>
              <a:t>semibin</a:t>
            </a:r>
            <a:endParaRPr lang="es-ES" dirty="0"/>
          </a:p>
          <a:p>
            <a:r>
              <a:rPr lang="es-ES" dirty="0" err="1"/>
              <a:t>skANI</a:t>
            </a:r>
            <a:endParaRPr lang="es-ES" dirty="0"/>
          </a:p>
          <a:p>
            <a:r>
              <a:rPr lang="es-ES" sz="1400" dirty="0" err="1"/>
              <a:t>bins</a:t>
            </a:r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0C86A7B-4B29-9B42-0E3B-3A7EB1BB37FB}"/>
              </a:ext>
            </a:extLst>
          </p:cNvPr>
          <p:cNvSpPr txBox="1"/>
          <p:nvPr/>
        </p:nvSpPr>
        <p:spPr>
          <a:xfrm>
            <a:off x="6812282" y="4341964"/>
            <a:ext cx="2556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Classify</a:t>
            </a:r>
            <a:r>
              <a:rPr lang="es-ES" dirty="0"/>
              <a:t> </a:t>
            </a:r>
            <a:r>
              <a:rPr lang="es-ES" dirty="0" err="1"/>
              <a:t>bins</a:t>
            </a:r>
            <a:endParaRPr lang="es-ES" dirty="0"/>
          </a:p>
          <a:p>
            <a:r>
              <a:rPr lang="es-ES" dirty="0"/>
              <a:t>GTDB-</a:t>
            </a:r>
            <a:r>
              <a:rPr lang="es-ES" dirty="0" err="1"/>
              <a:t>tk</a:t>
            </a:r>
            <a:endParaRPr lang="es-ES" dirty="0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7553562F-E60D-4AAA-CC80-B20C9E52E0B7}"/>
              </a:ext>
            </a:extLst>
          </p:cNvPr>
          <p:cNvCxnSpPr>
            <a:cxnSpLocks/>
          </p:cNvCxnSpPr>
          <p:nvPr/>
        </p:nvCxnSpPr>
        <p:spPr>
          <a:xfrm>
            <a:off x="3132022" y="4694798"/>
            <a:ext cx="360575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E5BCE601-5F09-4E77-494B-5A952F1E7322}"/>
              </a:ext>
            </a:extLst>
          </p:cNvPr>
          <p:cNvCxnSpPr>
            <a:cxnSpLocks/>
          </p:cNvCxnSpPr>
          <p:nvPr/>
        </p:nvCxnSpPr>
        <p:spPr>
          <a:xfrm>
            <a:off x="2613639" y="5288912"/>
            <a:ext cx="574273" cy="4690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8DDE425-AAFF-9F7E-422A-6C35BB4D2CE8}"/>
              </a:ext>
            </a:extLst>
          </p:cNvPr>
          <p:cNvSpPr txBox="1"/>
          <p:nvPr/>
        </p:nvSpPr>
        <p:spPr>
          <a:xfrm>
            <a:off x="3339585" y="5554946"/>
            <a:ext cx="1133644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ES" dirty="0" err="1"/>
              <a:t>Qc</a:t>
            </a:r>
            <a:r>
              <a:rPr lang="es-ES" dirty="0"/>
              <a:t>,</a:t>
            </a:r>
          </a:p>
          <a:p>
            <a:r>
              <a:rPr lang="es-ES" dirty="0"/>
              <a:t>CheckM2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B498477-5312-53B7-08B4-81307C2EA7E6}"/>
              </a:ext>
            </a:extLst>
          </p:cNvPr>
          <p:cNvSpPr txBox="1"/>
          <p:nvPr/>
        </p:nvSpPr>
        <p:spPr>
          <a:xfrm>
            <a:off x="3017350" y="6225677"/>
            <a:ext cx="1654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Quality</a:t>
            </a:r>
            <a:r>
              <a:rPr lang="es-ES" dirty="0"/>
              <a:t> control</a:t>
            </a:r>
          </a:p>
          <a:p>
            <a:r>
              <a:rPr lang="es-ES" dirty="0" err="1"/>
              <a:t>seqkit</a:t>
            </a:r>
            <a:endParaRPr lang="es-ES" dirty="0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2F53176-9948-808E-5EE4-46799BFA8637}"/>
              </a:ext>
            </a:extLst>
          </p:cNvPr>
          <p:cNvCxnSpPr>
            <a:cxnSpLocks/>
          </p:cNvCxnSpPr>
          <p:nvPr/>
        </p:nvCxnSpPr>
        <p:spPr>
          <a:xfrm>
            <a:off x="2239526" y="5625976"/>
            <a:ext cx="532914" cy="7974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C940498B-7E8D-9BC9-0C42-5C22CC8D531E}"/>
              </a:ext>
            </a:extLst>
          </p:cNvPr>
          <p:cNvCxnSpPr>
            <a:cxnSpLocks/>
          </p:cNvCxnSpPr>
          <p:nvPr/>
        </p:nvCxnSpPr>
        <p:spPr>
          <a:xfrm>
            <a:off x="3132022" y="1580571"/>
            <a:ext cx="2150510" cy="1513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0058D28-3102-50FC-C02A-1158533C63F0}"/>
              </a:ext>
            </a:extLst>
          </p:cNvPr>
          <p:cNvSpPr txBox="1"/>
          <p:nvPr/>
        </p:nvSpPr>
        <p:spPr>
          <a:xfrm>
            <a:off x="5388463" y="1545444"/>
            <a:ext cx="5510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Taxonomic</a:t>
            </a:r>
            <a:r>
              <a:rPr lang="es-ES" dirty="0"/>
              <a:t> </a:t>
            </a:r>
            <a:r>
              <a:rPr lang="es-ES" dirty="0" err="1"/>
              <a:t>affilation</a:t>
            </a:r>
            <a:r>
              <a:rPr lang="es-ES" dirty="0"/>
              <a:t> </a:t>
            </a:r>
            <a:r>
              <a:rPr lang="es-ES" dirty="0" err="1"/>
              <a:t>phyloFlash</a:t>
            </a:r>
            <a:r>
              <a:rPr lang="es-ES" dirty="0"/>
              <a:t> (Alpha, beta </a:t>
            </a:r>
            <a:r>
              <a:rPr lang="es-ES" dirty="0" err="1"/>
              <a:t>diversity</a:t>
            </a:r>
            <a:r>
              <a:rPr lang="es-ES" dirty="0"/>
              <a:t>)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E244EF16-D51C-809A-3A09-825D33DB2C55}"/>
              </a:ext>
            </a:extLst>
          </p:cNvPr>
          <p:cNvCxnSpPr>
            <a:cxnSpLocks/>
          </p:cNvCxnSpPr>
          <p:nvPr/>
        </p:nvCxnSpPr>
        <p:spPr>
          <a:xfrm>
            <a:off x="5040019" y="3222897"/>
            <a:ext cx="789424" cy="4345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378CCEE-7BF8-B0AB-FA93-074CF0280F6A}"/>
              </a:ext>
            </a:extLst>
          </p:cNvPr>
          <p:cNvSpPr txBox="1"/>
          <p:nvPr/>
        </p:nvSpPr>
        <p:spPr>
          <a:xfrm>
            <a:off x="5841532" y="3318963"/>
            <a:ext cx="894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bbmap</a:t>
            </a:r>
            <a:endParaRPr lang="es-ES" dirty="0"/>
          </a:p>
          <a:p>
            <a:r>
              <a:rPr lang="es-ES" dirty="0" err="1"/>
              <a:t>Rpkm</a:t>
            </a:r>
            <a:br>
              <a:rPr lang="es-ES" dirty="0"/>
            </a:br>
            <a:r>
              <a:rPr lang="es-ES" dirty="0"/>
              <a:t>TPM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49F07F6F-E87F-C056-F1C5-5ABC13767758}"/>
              </a:ext>
            </a:extLst>
          </p:cNvPr>
          <p:cNvCxnSpPr>
            <a:cxnSpLocks/>
          </p:cNvCxnSpPr>
          <p:nvPr/>
        </p:nvCxnSpPr>
        <p:spPr>
          <a:xfrm>
            <a:off x="2442019" y="1120455"/>
            <a:ext cx="0" cy="3266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A8DAD4F-A94A-011F-1AFD-458AA3D7C4F5}"/>
              </a:ext>
            </a:extLst>
          </p:cNvPr>
          <p:cNvSpPr txBox="1"/>
          <p:nvPr/>
        </p:nvSpPr>
        <p:spPr>
          <a:xfrm>
            <a:off x="2465027" y="16678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FastQC</a:t>
            </a:r>
            <a:r>
              <a:rPr lang="es-ES" dirty="0"/>
              <a:t> (</a:t>
            </a:r>
            <a:r>
              <a:rPr lang="es-ES" dirty="0" err="1"/>
              <a:t>paired</a:t>
            </a:r>
            <a:r>
              <a:rPr lang="es-ES" dirty="0"/>
              <a:t>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0722BE2-142A-06AD-16B5-D19EE9596BE1}"/>
              </a:ext>
            </a:extLst>
          </p:cNvPr>
          <p:cNvSpPr txBox="1"/>
          <p:nvPr/>
        </p:nvSpPr>
        <p:spPr>
          <a:xfrm>
            <a:off x="0" y="6475019"/>
            <a:ext cx="1981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Extract</a:t>
            </a:r>
            <a:r>
              <a:rPr lang="es-ES" dirty="0"/>
              <a:t> </a:t>
            </a:r>
            <a:r>
              <a:rPr lang="es-ES" dirty="0" err="1"/>
              <a:t>ID_contigs</a:t>
            </a:r>
            <a:endParaRPr lang="es-ES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81FF58D-94C9-7411-7EDA-84811F122C0B}"/>
              </a:ext>
            </a:extLst>
          </p:cNvPr>
          <p:cNvCxnSpPr>
            <a:cxnSpLocks/>
          </p:cNvCxnSpPr>
          <p:nvPr/>
        </p:nvCxnSpPr>
        <p:spPr>
          <a:xfrm flipH="1">
            <a:off x="342411" y="5637261"/>
            <a:ext cx="1071514" cy="7748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D08C4FCD-8EE6-2439-503C-B6671BFC513B}"/>
              </a:ext>
            </a:extLst>
          </p:cNvPr>
          <p:cNvCxnSpPr>
            <a:cxnSpLocks/>
          </p:cNvCxnSpPr>
          <p:nvPr/>
        </p:nvCxnSpPr>
        <p:spPr>
          <a:xfrm flipH="1">
            <a:off x="294980" y="2524194"/>
            <a:ext cx="1441266" cy="112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CFC92B1-C2EE-1ED8-7FE1-8B4DE56BF9A3}"/>
              </a:ext>
            </a:extLst>
          </p:cNvPr>
          <p:cNvSpPr txBox="1"/>
          <p:nvPr/>
        </p:nvSpPr>
        <p:spPr>
          <a:xfrm>
            <a:off x="-55623" y="26700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metabuli</a:t>
            </a: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AD71C42-4219-45F8-F4E7-8020518F5644}"/>
              </a:ext>
            </a:extLst>
          </p:cNvPr>
          <p:cNvSpPr txBox="1"/>
          <p:nvPr/>
        </p:nvSpPr>
        <p:spPr>
          <a:xfrm>
            <a:off x="10880422" y="75623"/>
            <a:ext cx="136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err="1"/>
              <a:t>Consensus</a:t>
            </a:r>
            <a:endParaRPr lang="es-ES" b="1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9E95680-7A14-2D15-DC61-A7F4863607AA}"/>
              </a:ext>
            </a:extLst>
          </p:cNvPr>
          <p:cNvCxnSpPr>
            <a:cxnSpLocks/>
          </p:cNvCxnSpPr>
          <p:nvPr/>
        </p:nvCxnSpPr>
        <p:spPr>
          <a:xfrm>
            <a:off x="5237652" y="2675103"/>
            <a:ext cx="1771139" cy="2963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9CC66FF-ABCF-2335-95D2-9457C66CDE6D}"/>
              </a:ext>
            </a:extLst>
          </p:cNvPr>
          <p:cNvSpPr txBox="1"/>
          <p:nvPr/>
        </p:nvSpPr>
        <p:spPr>
          <a:xfrm>
            <a:off x="7156180" y="2939444"/>
            <a:ext cx="1959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diamond:uniref50</a:t>
            </a:r>
          </a:p>
        </p:txBody>
      </p:sp>
    </p:spTree>
    <p:extLst>
      <p:ext uri="{BB962C8B-B14F-4D97-AF65-F5344CB8AC3E}">
        <p14:creationId xmlns:p14="http://schemas.microsoft.com/office/powerpoint/2010/main" val="2092535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Macintosh PowerPoint</Application>
  <PresentationFormat>Panorámica</PresentationFormat>
  <Paragraphs>37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CASTELLANO HINOJOSA</dc:creator>
  <cp:lastModifiedBy>ANTONIO CASTELLANO HINOJOSA</cp:lastModifiedBy>
  <cp:revision>1</cp:revision>
  <dcterms:created xsi:type="dcterms:W3CDTF">2026-05-25T18:43:17Z</dcterms:created>
  <dcterms:modified xsi:type="dcterms:W3CDTF">2026-05-25T18:43:48Z</dcterms:modified>
</cp:coreProperties>
</file>