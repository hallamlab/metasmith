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0" r:id="rId2"/>
    <p:sldId id="256" r:id="rId3"/>
  </p:sldIdLst>
  <p:sldSz cx="16402050" cy="14281150"/>
  <p:notesSz cx="6858000" cy="9144000"/>
  <p:defaultTextStyle>
    <a:defPPr>
      <a:defRPr lang="en-US"/>
    </a:defPPr>
    <a:lvl1pPr marL="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98" userDrawn="1">
          <p15:clr>
            <a:srgbClr val="A4A3A4"/>
          </p15:clr>
        </p15:guide>
        <p15:guide id="2" pos="51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E0DD"/>
    <a:srgbClr val="8591E4"/>
    <a:srgbClr val="E0D136"/>
    <a:srgbClr val="D9DD99"/>
    <a:srgbClr val="FDB8FA"/>
    <a:srgbClr val="DFA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8"/>
    <p:restoredTop sz="94658"/>
  </p:normalViewPr>
  <p:slideViewPr>
    <p:cSldViewPr snapToGrid="0" snapToObjects="1">
      <p:cViewPr>
        <p:scale>
          <a:sx n="73" d="100"/>
          <a:sy n="73" d="100"/>
        </p:scale>
        <p:origin x="808" y="-632"/>
      </p:cViewPr>
      <p:guideLst>
        <p:guide orient="horz" pos="4498"/>
        <p:guide pos="51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49358-97F7-954D-8DA9-8311F5DB6790}" type="datetimeFigureOut">
              <a:rPr lang="es-ES" smtClean="0"/>
              <a:t>13/5/26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657350" y="1143000"/>
            <a:ext cx="3543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CF73E-FDC9-D044-A7F9-E83A512BA6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89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2D81E-9E42-4671-62AA-CA3EC220C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EE8385-6137-E0DE-D9C9-4AB0ED52D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57350" y="1143000"/>
            <a:ext cx="35433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619FFF9-D9DB-CCC6-4804-58DEAB90F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u="sng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Fig.1. </a:t>
            </a:r>
            <a:r>
              <a:rPr lang="es-ES" sz="1200" b="0" u="none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Bioinformatics</a:t>
            </a:r>
            <a:r>
              <a:rPr lang="es-ES" sz="1200" b="0" u="none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200" b="0" u="none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workflow</a:t>
            </a:r>
            <a:endParaRPr lang="es-ES" sz="1200" b="0" u="none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A4924D-C6E8-5355-290C-032D2589B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8CF73E-FDC9-D044-A7F9-E83A512BA62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952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657350" y="1143000"/>
            <a:ext cx="35433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u="sng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Fig.1. </a:t>
            </a:r>
            <a:r>
              <a:rPr lang="es-ES" sz="1200" b="0" u="none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Bioinformatics</a:t>
            </a:r>
            <a:r>
              <a:rPr lang="es-ES" sz="1200" b="0" u="none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200" b="0" u="none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workflow</a:t>
            </a:r>
            <a:endParaRPr lang="es-ES" sz="1200" b="0" u="none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8CF73E-FDC9-D044-A7F9-E83A512BA627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8697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0157" y="4436416"/>
            <a:ext cx="13941743" cy="30611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0312" y="8092657"/>
            <a:ext cx="11481435" cy="364962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5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651" y="9176965"/>
            <a:ext cx="13941743" cy="2836395"/>
          </a:xfrm>
        </p:spPr>
        <p:txBody>
          <a:bodyPr anchor="t"/>
          <a:lstStyle>
            <a:lvl1pPr algn="l">
              <a:defRPr sz="5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651" y="6052962"/>
            <a:ext cx="13941743" cy="3124001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0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71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61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51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541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632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721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0105" y="3332274"/>
            <a:ext cx="7244239" cy="9424899"/>
          </a:xfrm>
        </p:spPr>
        <p:txBody>
          <a:bodyPr/>
          <a:lstStyle>
            <a:lvl1pPr>
              <a:defRPr sz="3920"/>
            </a:lvl1pPr>
            <a:lvl2pPr>
              <a:defRPr sz="3360"/>
            </a:lvl2pPr>
            <a:lvl3pPr>
              <a:defRPr sz="280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7709" y="3332274"/>
            <a:ext cx="7244239" cy="9424899"/>
          </a:xfrm>
        </p:spPr>
        <p:txBody>
          <a:bodyPr/>
          <a:lstStyle>
            <a:lvl1pPr>
              <a:defRPr sz="3920"/>
            </a:lvl1pPr>
            <a:lvl2pPr>
              <a:defRPr sz="3360"/>
            </a:lvl2pPr>
            <a:lvl3pPr>
              <a:defRPr sz="280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106" y="3196731"/>
            <a:ext cx="7247087" cy="1332245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91" indent="0">
              <a:buNone/>
              <a:defRPr sz="2800" b="1"/>
            </a:lvl2pPr>
            <a:lvl3pPr marL="1280180" indent="0">
              <a:buNone/>
              <a:defRPr sz="2520" b="1"/>
            </a:lvl3pPr>
            <a:lvl4pPr marL="1920271" indent="0">
              <a:buNone/>
              <a:defRPr sz="2240" b="1"/>
            </a:lvl4pPr>
            <a:lvl5pPr marL="2560361" indent="0">
              <a:buNone/>
              <a:defRPr sz="2240" b="1"/>
            </a:lvl5pPr>
            <a:lvl6pPr marL="3200451" indent="0">
              <a:buNone/>
              <a:defRPr sz="2240" b="1"/>
            </a:lvl6pPr>
            <a:lvl7pPr marL="3840541" indent="0">
              <a:buNone/>
              <a:defRPr sz="2240" b="1"/>
            </a:lvl7pPr>
            <a:lvl8pPr marL="4480632" indent="0">
              <a:buNone/>
              <a:defRPr sz="2240" b="1"/>
            </a:lvl8pPr>
            <a:lvl9pPr marL="5120721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06" y="4528978"/>
            <a:ext cx="7247087" cy="8228191"/>
          </a:xfrm>
        </p:spPr>
        <p:txBody>
          <a:bodyPr/>
          <a:lstStyle>
            <a:lvl1pPr>
              <a:defRPr sz="3360"/>
            </a:lvl1pPr>
            <a:lvl2pPr>
              <a:defRPr sz="2800"/>
            </a:lvl2pPr>
            <a:lvl3pPr>
              <a:defRPr sz="2520"/>
            </a:lvl3pPr>
            <a:lvl4pPr>
              <a:defRPr sz="2240"/>
            </a:lvl4pPr>
            <a:lvl5pPr>
              <a:defRPr sz="2240"/>
            </a:lvl5pPr>
            <a:lvl6pPr>
              <a:defRPr sz="2240"/>
            </a:lvl6pPr>
            <a:lvl7pPr>
              <a:defRPr sz="2240"/>
            </a:lvl7pPr>
            <a:lvl8pPr>
              <a:defRPr sz="2240"/>
            </a:lvl8pPr>
            <a:lvl9pPr>
              <a:defRPr sz="2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015" y="3196731"/>
            <a:ext cx="7249934" cy="1332245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91" indent="0">
              <a:buNone/>
              <a:defRPr sz="2800" b="1"/>
            </a:lvl2pPr>
            <a:lvl3pPr marL="1280180" indent="0">
              <a:buNone/>
              <a:defRPr sz="2520" b="1"/>
            </a:lvl3pPr>
            <a:lvl4pPr marL="1920271" indent="0">
              <a:buNone/>
              <a:defRPr sz="2240" b="1"/>
            </a:lvl4pPr>
            <a:lvl5pPr marL="2560361" indent="0">
              <a:buNone/>
              <a:defRPr sz="2240" b="1"/>
            </a:lvl5pPr>
            <a:lvl6pPr marL="3200451" indent="0">
              <a:buNone/>
              <a:defRPr sz="2240" b="1"/>
            </a:lvl6pPr>
            <a:lvl7pPr marL="3840541" indent="0">
              <a:buNone/>
              <a:defRPr sz="2240" b="1"/>
            </a:lvl7pPr>
            <a:lvl8pPr marL="4480632" indent="0">
              <a:buNone/>
              <a:defRPr sz="2240" b="1"/>
            </a:lvl8pPr>
            <a:lvl9pPr marL="5120721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015" y="4528978"/>
            <a:ext cx="7249934" cy="8228191"/>
          </a:xfrm>
        </p:spPr>
        <p:txBody>
          <a:bodyPr/>
          <a:lstStyle>
            <a:lvl1pPr>
              <a:defRPr sz="3360"/>
            </a:lvl1pPr>
            <a:lvl2pPr>
              <a:defRPr sz="2800"/>
            </a:lvl2pPr>
            <a:lvl3pPr>
              <a:defRPr sz="2520"/>
            </a:lvl3pPr>
            <a:lvl4pPr>
              <a:defRPr sz="2240"/>
            </a:lvl4pPr>
            <a:lvl5pPr>
              <a:defRPr sz="2240"/>
            </a:lvl5pPr>
            <a:lvl6pPr>
              <a:defRPr sz="2240"/>
            </a:lvl6pPr>
            <a:lvl7pPr>
              <a:defRPr sz="2240"/>
            </a:lvl7pPr>
            <a:lvl8pPr>
              <a:defRPr sz="2240"/>
            </a:lvl8pPr>
            <a:lvl9pPr>
              <a:defRPr sz="2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107" y="568601"/>
            <a:ext cx="5396161" cy="2419861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2746" y="568603"/>
            <a:ext cx="9169202" cy="1218856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0107" y="2988465"/>
            <a:ext cx="5396161" cy="9768704"/>
          </a:xfrm>
        </p:spPr>
        <p:txBody>
          <a:bodyPr/>
          <a:lstStyle>
            <a:lvl1pPr marL="0" indent="0">
              <a:buNone/>
              <a:defRPr sz="1960"/>
            </a:lvl1pPr>
            <a:lvl2pPr marL="640091" indent="0">
              <a:buNone/>
              <a:defRPr sz="1680"/>
            </a:lvl2pPr>
            <a:lvl3pPr marL="1280180" indent="0">
              <a:buNone/>
              <a:defRPr sz="1400"/>
            </a:lvl3pPr>
            <a:lvl4pPr marL="1920271" indent="0">
              <a:buNone/>
              <a:defRPr sz="1260"/>
            </a:lvl4pPr>
            <a:lvl5pPr marL="2560361" indent="0">
              <a:buNone/>
              <a:defRPr sz="1260"/>
            </a:lvl5pPr>
            <a:lvl6pPr marL="3200451" indent="0">
              <a:buNone/>
              <a:defRPr sz="1260"/>
            </a:lvl6pPr>
            <a:lvl7pPr marL="3840541" indent="0">
              <a:buNone/>
              <a:defRPr sz="1260"/>
            </a:lvl7pPr>
            <a:lvl8pPr marL="4480632" indent="0">
              <a:buNone/>
              <a:defRPr sz="1260"/>
            </a:lvl8pPr>
            <a:lvl9pPr marL="5120721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4916" y="9996807"/>
            <a:ext cx="9841230" cy="1180179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14916" y="1276047"/>
            <a:ext cx="9841230" cy="8568690"/>
          </a:xfrm>
        </p:spPr>
        <p:txBody>
          <a:bodyPr/>
          <a:lstStyle>
            <a:lvl1pPr marL="0" indent="0">
              <a:buNone/>
              <a:defRPr sz="4480"/>
            </a:lvl1pPr>
            <a:lvl2pPr marL="640091" indent="0">
              <a:buNone/>
              <a:defRPr sz="3920"/>
            </a:lvl2pPr>
            <a:lvl3pPr marL="1280180" indent="0">
              <a:buNone/>
              <a:defRPr sz="3360"/>
            </a:lvl3pPr>
            <a:lvl4pPr marL="1920271" indent="0">
              <a:buNone/>
              <a:defRPr sz="2800"/>
            </a:lvl4pPr>
            <a:lvl5pPr marL="2560361" indent="0">
              <a:buNone/>
              <a:defRPr sz="2800"/>
            </a:lvl5pPr>
            <a:lvl6pPr marL="3200451" indent="0">
              <a:buNone/>
              <a:defRPr sz="2800"/>
            </a:lvl6pPr>
            <a:lvl7pPr marL="3840541" indent="0">
              <a:buNone/>
              <a:defRPr sz="2800"/>
            </a:lvl7pPr>
            <a:lvl8pPr marL="4480632" indent="0">
              <a:buNone/>
              <a:defRPr sz="2800"/>
            </a:lvl8pPr>
            <a:lvl9pPr marL="5120721" indent="0">
              <a:buNone/>
              <a:defRPr sz="2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14916" y="11176986"/>
            <a:ext cx="9841230" cy="1676051"/>
          </a:xfrm>
        </p:spPr>
        <p:txBody>
          <a:bodyPr/>
          <a:lstStyle>
            <a:lvl1pPr marL="0" indent="0">
              <a:buNone/>
              <a:defRPr sz="1960"/>
            </a:lvl1pPr>
            <a:lvl2pPr marL="640091" indent="0">
              <a:buNone/>
              <a:defRPr sz="1680"/>
            </a:lvl2pPr>
            <a:lvl3pPr marL="1280180" indent="0">
              <a:buNone/>
              <a:defRPr sz="1400"/>
            </a:lvl3pPr>
            <a:lvl4pPr marL="1920271" indent="0">
              <a:buNone/>
              <a:defRPr sz="1260"/>
            </a:lvl4pPr>
            <a:lvl5pPr marL="2560361" indent="0">
              <a:buNone/>
              <a:defRPr sz="1260"/>
            </a:lvl5pPr>
            <a:lvl6pPr marL="3200451" indent="0">
              <a:buNone/>
              <a:defRPr sz="1260"/>
            </a:lvl6pPr>
            <a:lvl7pPr marL="3840541" indent="0">
              <a:buNone/>
              <a:defRPr sz="1260"/>
            </a:lvl7pPr>
            <a:lvl8pPr marL="4480632" indent="0">
              <a:buNone/>
              <a:defRPr sz="1260"/>
            </a:lvl8pPr>
            <a:lvl9pPr marL="5120721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91489" y="571910"/>
            <a:ext cx="3690461" cy="12185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0104" y="571910"/>
            <a:ext cx="10798016" cy="12185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0107" y="571913"/>
            <a:ext cx="14761845" cy="2380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107" y="3332274"/>
            <a:ext cx="14761845" cy="9424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0105" y="13236513"/>
            <a:ext cx="3827145" cy="760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04038" y="13236513"/>
            <a:ext cx="5193983" cy="760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4806" y="13236513"/>
            <a:ext cx="3827145" cy="760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40091" rtl="0" eaLnBrk="1" latinLnBrk="0" hangingPunct="1"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8" indent="-480068" algn="l" defTabSz="640091" rtl="0" eaLnBrk="1" latinLnBrk="0" hangingPunct="1">
        <a:spcBef>
          <a:spcPct val="20000"/>
        </a:spcBef>
        <a:buFont typeface="Arial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40147" indent="-400056" algn="l" defTabSz="640091" rtl="0" eaLnBrk="1" latinLnBrk="0" hangingPunct="1">
        <a:spcBef>
          <a:spcPct val="20000"/>
        </a:spcBef>
        <a:buFont typeface="Arial"/>
        <a:buChar char="–"/>
        <a:defRPr sz="392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25" indent="-320045" algn="l" defTabSz="640091" rtl="0" eaLnBrk="1" latinLnBrk="0" hangingPunct="1">
        <a:spcBef>
          <a:spcPct val="200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240316" indent="-320045" algn="l" defTabSz="640091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405" indent="-320045" algn="l" defTabSz="640091" rtl="0" eaLnBrk="1" latinLnBrk="0" hangingPunct="1">
        <a:spcBef>
          <a:spcPct val="20000"/>
        </a:spcBef>
        <a:buFont typeface="Arial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96" indent="-320045" algn="l" defTabSz="64009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87" indent="-320045" algn="l" defTabSz="64009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76" indent="-320045" algn="l" defTabSz="64009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767" indent="-320045" algn="l" defTabSz="64009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9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80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7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6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5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54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632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72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65A04-2DFD-2BD3-2B87-5F32FF7A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E71BD6B-1CAB-FFDD-8697-15ED290CFDEF}"/>
              </a:ext>
            </a:extLst>
          </p:cNvPr>
          <p:cNvSpPr/>
          <p:nvPr/>
        </p:nvSpPr>
        <p:spPr>
          <a:xfrm>
            <a:off x="3045602" y="461546"/>
            <a:ext cx="3148695" cy="96897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Raw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metagenomics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reads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n = </a:t>
            </a:r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endParaRPr sz="1800" dirty="0">
              <a:solidFill>
                <a:srgbClr val="FF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1A6F83-43E4-1886-4773-A5A1BC80B4EE}"/>
              </a:ext>
            </a:extLst>
          </p:cNvPr>
          <p:cNvSpPr/>
          <p:nvPr/>
        </p:nvSpPr>
        <p:spPr>
          <a:xfrm>
            <a:off x="3094054" y="1981713"/>
            <a:ext cx="3033676" cy="5849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uality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control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FASTQ +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Trimmomatic</a:t>
            </a:r>
            <a:endParaRPr sz="2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DC4358-F898-B65D-7114-852FE2467A46}"/>
              </a:ext>
            </a:extLst>
          </p:cNvPr>
          <p:cNvSpPr/>
          <p:nvPr/>
        </p:nvSpPr>
        <p:spPr>
          <a:xfrm>
            <a:off x="3094054" y="2823425"/>
            <a:ext cx="3033676" cy="968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Dual a</a:t>
            </a:r>
            <a:r>
              <a:rPr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ssembly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sz="20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metaSPAdes</a:t>
            </a:r>
            <a:r>
              <a:rPr lang="es-ES" sz="20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+</a:t>
            </a:r>
            <a:r>
              <a:rPr sz="20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MEGAHIT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B65A42F-3826-F031-B852-7AC81F0C3A0F}"/>
              </a:ext>
            </a:extLst>
          </p:cNvPr>
          <p:cNvSpPr/>
          <p:nvPr/>
        </p:nvSpPr>
        <p:spPr>
          <a:xfrm>
            <a:off x="3339790" y="5494354"/>
            <a:ext cx="256032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Identified contigs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endParaRPr sz="1800" dirty="0">
              <a:solidFill>
                <a:srgbClr val="FF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75632B-F659-A66F-C5D1-AF291FCBA00A}"/>
              </a:ext>
            </a:extLst>
          </p:cNvPr>
          <p:cNvSpPr/>
          <p:nvPr/>
        </p:nvSpPr>
        <p:spPr>
          <a:xfrm>
            <a:off x="2881608" y="6286325"/>
            <a:ext cx="3465089" cy="165801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 2</a:t>
            </a:r>
          </a:p>
          <a:p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i) Virus genes</a:t>
            </a:r>
            <a:r>
              <a:rPr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&gt;0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</a:t>
            </a:r>
            <a:endParaRPr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v</a:t>
            </a:r>
            <a:r>
              <a:rPr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irus</a:t>
            </a:r>
            <a:r>
              <a:rPr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gene =0 and host gene </a:t>
            </a:r>
            <a:r>
              <a:rPr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= 0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</a:t>
            </a:r>
          </a:p>
          <a:p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iii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Those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unknown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genes ≥ 75%</a:t>
            </a:r>
          </a:p>
          <a:p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iv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virus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contigs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length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≥1 kb </a:t>
            </a:r>
          </a:p>
          <a:p>
            <a:r>
              <a:rPr lang="es-ES" sz="1400" b="1" dirty="0" err="1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Identified</a:t>
            </a:r>
            <a:r>
              <a:rPr lang="es-ES" sz="1400" b="1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b="1" dirty="0" err="1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contigs</a:t>
            </a:r>
            <a:r>
              <a:rPr lang="es-ES" sz="1400" b="1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##</a:t>
            </a:r>
            <a:endParaRPr lang="es-ES" sz="1400" dirty="0">
              <a:solidFill>
                <a:srgbClr val="FF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iv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Trim host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region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CheckV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6E9FF0-D5F8-DD42-4461-4FDDA460174D}"/>
              </a:ext>
            </a:extLst>
          </p:cNvPr>
          <p:cNvSpPr/>
          <p:nvPr/>
        </p:nvSpPr>
        <p:spPr>
          <a:xfrm>
            <a:off x="3339790" y="8936427"/>
            <a:ext cx="2560320" cy="112804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clustering</a:t>
            </a:r>
            <a:endParaRPr lang="es-ES"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MMseq2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(≥95% ID across ≥80% length)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E3C293-FEC1-79A3-AEA4-77731AB06F5D}"/>
              </a:ext>
            </a:extLst>
          </p:cNvPr>
          <p:cNvSpPr/>
          <p:nvPr/>
        </p:nvSpPr>
        <p:spPr>
          <a:xfrm>
            <a:off x="3339790" y="10250308"/>
            <a:ext cx="2560320" cy="110744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≥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1 kb)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(≥5 kb)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(≥10 kb)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5E0628-ED30-C366-EB85-6EF1B926C443}"/>
              </a:ext>
            </a:extLst>
          </p:cNvPr>
          <p:cNvSpPr/>
          <p:nvPr/>
        </p:nvSpPr>
        <p:spPr>
          <a:xfrm>
            <a:off x="8707795" y="392511"/>
            <a:ext cx="3148695" cy="11400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recovery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D908C1B-7D2D-EA66-8EAC-46DF3143B6F1}"/>
              </a:ext>
            </a:extLst>
          </p:cNvPr>
          <p:cNvSpPr/>
          <p:nvPr/>
        </p:nvSpPr>
        <p:spPr>
          <a:xfrm>
            <a:off x="8565006" y="1838431"/>
            <a:ext cx="3424747" cy="19944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Binning</a:t>
            </a:r>
            <a:endParaRPr lang="es-ES"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Contigs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≥ 1 kb are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binned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-BinSanity: Min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scaffold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3 kb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-ABAWACA:  Min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scaffold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5 kb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-MaxBin2:  40 &amp; 107 gene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marker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-CONCOCT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-MetaBAT2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9EFAFC8-4256-79BB-B599-B43E2C0C9E10}"/>
              </a:ext>
            </a:extLst>
          </p:cNvPr>
          <p:cNvSpPr/>
          <p:nvPr/>
        </p:nvSpPr>
        <p:spPr>
          <a:xfrm>
            <a:off x="8503198" y="5661496"/>
            <a:ext cx="2816352" cy="928608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Read mapping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(minimap2 +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SAMtools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+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CoverM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8A7BA56-C4DC-822D-5C5C-C5A503877A0E}"/>
              </a:ext>
            </a:extLst>
          </p:cNvPr>
          <p:cNvSpPr/>
          <p:nvPr/>
        </p:nvSpPr>
        <p:spPr>
          <a:xfrm>
            <a:off x="12821875" y="3256822"/>
            <a:ext cx="2015052" cy="86646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Quallity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check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CheckM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B49B623-EF04-D8D4-EE41-764A355F9D7D}"/>
              </a:ext>
            </a:extLst>
          </p:cNvPr>
          <p:cNvSpPr/>
          <p:nvPr/>
        </p:nvSpPr>
        <p:spPr>
          <a:xfrm>
            <a:off x="8635797" y="6989925"/>
            <a:ext cx="1760408" cy="952205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α, β Diversity</a:t>
            </a:r>
          </a:p>
        </p:txBody>
      </p:sp>
      <p:sp>
        <p:nvSpPr>
          <p:cNvPr id="54" name="Rounded Rectangle 6">
            <a:extLst>
              <a:ext uri="{FF2B5EF4-FFF2-40B4-BE49-F238E27FC236}">
                <a16:creationId xmlns:a16="http://schemas.microsoft.com/office/drawing/2014/main" id="{3A346988-A745-F10A-FBA2-8AB143083DE3}"/>
              </a:ext>
            </a:extLst>
          </p:cNvPr>
          <p:cNvSpPr/>
          <p:nvPr/>
        </p:nvSpPr>
        <p:spPr>
          <a:xfrm>
            <a:off x="3812091" y="4135745"/>
            <a:ext cx="1604122" cy="11747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 1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G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N</a:t>
            </a:r>
            <a:r>
              <a:rPr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omad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default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7" name="Rounded Rectangle 7">
            <a:extLst>
              <a:ext uri="{FF2B5EF4-FFF2-40B4-BE49-F238E27FC236}">
                <a16:creationId xmlns:a16="http://schemas.microsoft.com/office/drawing/2014/main" id="{2C701F0E-0E8A-2BAB-0D90-77990DC73F24}"/>
              </a:ext>
            </a:extLst>
          </p:cNvPr>
          <p:cNvSpPr/>
          <p:nvPr/>
        </p:nvSpPr>
        <p:spPr>
          <a:xfrm>
            <a:off x="3339790" y="8112467"/>
            <a:ext cx="256032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Identified contigs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endParaRPr sz="1800" dirty="0">
              <a:solidFill>
                <a:srgbClr val="FF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206705A-C949-7D38-A83A-316EC43BE7C3}"/>
              </a:ext>
            </a:extLst>
          </p:cNvPr>
          <p:cNvSpPr txBox="1"/>
          <p:nvPr/>
        </p:nvSpPr>
        <p:spPr>
          <a:xfrm rot="16200000">
            <a:off x="-228652" y="853057"/>
            <a:ext cx="1756229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/>
              <a:t>Metagenomics</a:t>
            </a:r>
            <a:r>
              <a:rPr lang="es-ES" sz="2000" b="1" dirty="0"/>
              <a:t> </a:t>
            </a:r>
            <a:r>
              <a:rPr lang="es-ES" sz="2000" b="1" dirty="0" err="1"/>
              <a:t>samples</a:t>
            </a:r>
            <a:endParaRPr lang="es-ES" sz="2000" b="1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2BA112-C624-3903-DF62-9900CD6524D0}"/>
              </a:ext>
            </a:extLst>
          </p:cNvPr>
          <p:cNvSpPr txBox="1"/>
          <p:nvPr/>
        </p:nvSpPr>
        <p:spPr>
          <a:xfrm rot="16200000">
            <a:off x="-228651" y="2701416"/>
            <a:ext cx="1756227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/>
              <a:t>Metagenomics</a:t>
            </a:r>
            <a:r>
              <a:rPr lang="es-ES" sz="2000" b="1" dirty="0"/>
              <a:t> </a:t>
            </a:r>
            <a:r>
              <a:rPr lang="es-ES" sz="2000" b="1" dirty="0" err="1"/>
              <a:t>processing</a:t>
            </a:r>
            <a:endParaRPr lang="es-ES" sz="2000" b="1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0885338-0158-E1C7-36A2-B72F29C1FC02}"/>
              </a:ext>
            </a:extLst>
          </p:cNvPr>
          <p:cNvSpPr txBox="1"/>
          <p:nvPr/>
        </p:nvSpPr>
        <p:spPr>
          <a:xfrm rot="16200000">
            <a:off x="-1745387" y="6047220"/>
            <a:ext cx="4726945" cy="72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/>
              <a:t>Viral </a:t>
            </a:r>
            <a:r>
              <a:rPr lang="es-ES" sz="2000" b="1" dirty="0" err="1"/>
              <a:t>identification</a:t>
            </a:r>
            <a:endParaRPr lang="es-ES" sz="2000" b="1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F060DE6F-D42B-864B-8AD4-A0BAB1E42540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4610892" y="1430516"/>
            <a:ext cx="9058" cy="551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194E9085-2385-20E7-7FA7-678F2E3EA7A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610892" y="2566635"/>
            <a:ext cx="0" cy="2567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AC24CA12-2731-E27B-C593-09F6C2C8AF18}"/>
              </a:ext>
            </a:extLst>
          </p:cNvPr>
          <p:cNvCxnSpPr>
            <a:cxnSpLocks/>
            <a:stCxn id="6" idx="2"/>
            <a:endCxn id="54" idx="0"/>
          </p:cNvCxnSpPr>
          <p:nvPr/>
        </p:nvCxnSpPr>
        <p:spPr>
          <a:xfrm>
            <a:off x="4610892" y="3792395"/>
            <a:ext cx="3260" cy="343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44A09EC9-1A22-6107-71AB-21F72D6DD559}"/>
              </a:ext>
            </a:extLst>
          </p:cNvPr>
          <p:cNvCxnSpPr>
            <a:cxnSpLocks/>
            <a:stCxn id="54" idx="2"/>
            <a:endCxn id="8" idx="0"/>
          </p:cNvCxnSpPr>
          <p:nvPr/>
        </p:nvCxnSpPr>
        <p:spPr>
          <a:xfrm>
            <a:off x="4614152" y="5310474"/>
            <a:ext cx="5798" cy="183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73F5DE37-A4A9-FC17-D709-42960E7C764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614153" y="6134434"/>
            <a:ext cx="5797" cy="1518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0C84B507-8760-E5EE-0725-34F824EC1412}"/>
              </a:ext>
            </a:extLst>
          </p:cNvPr>
          <p:cNvCxnSpPr>
            <a:cxnSpLocks/>
            <a:stCxn id="9" idx="2"/>
            <a:endCxn id="57" idx="0"/>
          </p:cNvCxnSpPr>
          <p:nvPr/>
        </p:nvCxnSpPr>
        <p:spPr>
          <a:xfrm>
            <a:off x="4614153" y="7944338"/>
            <a:ext cx="5797" cy="168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FC1FE527-F0D8-61F9-CE52-C3379D5A5832}"/>
              </a:ext>
            </a:extLst>
          </p:cNvPr>
          <p:cNvSpPr txBox="1"/>
          <p:nvPr/>
        </p:nvSpPr>
        <p:spPr>
          <a:xfrm rot="16200000">
            <a:off x="-1923263" y="11087726"/>
            <a:ext cx="5052538" cy="7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/>
              <a:t>Viral </a:t>
            </a:r>
            <a:r>
              <a:rPr lang="es-ES" sz="2000" b="1" dirty="0" err="1"/>
              <a:t>operational</a:t>
            </a:r>
            <a:r>
              <a:rPr lang="es-ES" sz="2000" b="1" dirty="0"/>
              <a:t> </a:t>
            </a:r>
            <a:r>
              <a:rPr lang="es-ES" sz="2000" b="1" dirty="0" err="1"/>
              <a:t>taxonomic</a:t>
            </a:r>
            <a:r>
              <a:rPr lang="es-ES" sz="2000" b="1" dirty="0"/>
              <a:t> </a:t>
            </a:r>
            <a:r>
              <a:rPr lang="es-ES" sz="2000" b="1" dirty="0" err="1"/>
              <a:t>units</a:t>
            </a:r>
            <a:r>
              <a:rPr lang="es-ES" sz="2000" b="1" dirty="0"/>
              <a:t> (</a:t>
            </a:r>
            <a:r>
              <a:rPr lang="es-ES" sz="2000" b="1" dirty="0" err="1"/>
              <a:t>vOTUS</a:t>
            </a:r>
            <a:r>
              <a:rPr lang="es-ES" sz="2000" b="1" dirty="0"/>
              <a:t>)</a:t>
            </a:r>
          </a:p>
        </p:txBody>
      </p:sp>
      <p:sp>
        <p:nvSpPr>
          <p:cNvPr id="138" name="Rounded Rectangle 11">
            <a:extLst>
              <a:ext uri="{FF2B5EF4-FFF2-40B4-BE49-F238E27FC236}">
                <a16:creationId xmlns:a16="http://schemas.microsoft.com/office/drawing/2014/main" id="{333D93EA-CB6A-068C-22A9-FC67C32FAA02}"/>
              </a:ext>
            </a:extLst>
          </p:cNvPr>
          <p:cNvSpPr/>
          <p:nvPr/>
        </p:nvSpPr>
        <p:spPr>
          <a:xfrm>
            <a:off x="3345667" y="11470408"/>
            <a:ext cx="2473316" cy="17502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15495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≥1 kb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4310 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(≥5 kb)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1973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(≥10 kb)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&gt;=100 kb removed: </a:t>
            </a:r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51</a:t>
            </a:r>
          </a:p>
        </p:txBody>
      </p:sp>
      <p:sp>
        <p:nvSpPr>
          <p:cNvPr id="139" name="Rounded Rectangle 11">
            <a:extLst>
              <a:ext uri="{FF2B5EF4-FFF2-40B4-BE49-F238E27FC236}">
                <a16:creationId xmlns:a16="http://schemas.microsoft.com/office/drawing/2014/main" id="{F1DF387C-7CF8-C440-19D5-F3405F6512D0}"/>
              </a:ext>
            </a:extLst>
          </p:cNvPr>
          <p:cNvSpPr/>
          <p:nvPr/>
        </p:nvSpPr>
        <p:spPr>
          <a:xfrm>
            <a:off x="1091812" y="9106776"/>
            <a:ext cx="1990411" cy="35888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3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Curation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to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vOTUs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≥100 kb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Remove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putative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genomic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islands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/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mobile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elements</a:t>
            </a:r>
            <a:endParaRPr lang="es-ES"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Exclude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contigs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transposons</a:t>
            </a:r>
            <a:endParaRPr lang="es-ES"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LPS genes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integrases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endonucleases</a:t>
            </a:r>
            <a:endParaRPr lang="es-ES"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plasmid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stability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genes</a:t>
            </a:r>
            <a:endParaRPr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2ACADEA6-E717-03B0-01A8-F6EC9DAA24A2}"/>
              </a:ext>
            </a:extLst>
          </p:cNvPr>
          <p:cNvCxnSpPr>
            <a:cxnSpLocks/>
            <a:stCxn id="12" idx="1"/>
            <a:endCxn id="139" idx="3"/>
          </p:cNvCxnSpPr>
          <p:nvPr/>
        </p:nvCxnSpPr>
        <p:spPr>
          <a:xfrm flipH="1">
            <a:off x="3082223" y="10804029"/>
            <a:ext cx="257567" cy="97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9ECFEE8F-03AC-8073-34F7-6536D01F35C9}"/>
              </a:ext>
            </a:extLst>
          </p:cNvPr>
          <p:cNvCxnSpPr>
            <a:cxnSpLocks/>
            <a:stCxn id="139" idx="3"/>
            <a:endCxn id="138" idx="1"/>
          </p:cNvCxnSpPr>
          <p:nvPr/>
        </p:nvCxnSpPr>
        <p:spPr>
          <a:xfrm>
            <a:off x="3082223" y="10901193"/>
            <a:ext cx="263444" cy="1444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Conector recto de flecha 159">
            <a:extLst>
              <a:ext uri="{FF2B5EF4-FFF2-40B4-BE49-F238E27FC236}">
                <a16:creationId xmlns:a16="http://schemas.microsoft.com/office/drawing/2014/main" id="{37D79653-EC78-37FD-16AD-0A2956BA7A01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4619950" y="8752550"/>
            <a:ext cx="0" cy="149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97A5281F-27B8-82DC-88B2-04F2349C24B6}"/>
              </a:ext>
            </a:extLst>
          </p:cNvPr>
          <p:cNvSpPr txBox="1"/>
          <p:nvPr/>
        </p:nvSpPr>
        <p:spPr>
          <a:xfrm rot="16200000">
            <a:off x="13560028" y="2508191"/>
            <a:ext cx="4866259" cy="64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MAGs</a:t>
            </a:r>
            <a:r>
              <a:rPr lang="es-ES" sz="2000" b="1" dirty="0"/>
              <a:t> </a:t>
            </a:r>
            <a:r>
              <a:rPr lang="es-ES" sz="2000" b="1" dirty="0" err="1"/>
              <a:t>generation</a:t>
            </a:r>
            <a:endParaRPr lang="es-ES" sz="2000" b="1" dirty="0"/>
          </a:p>
        </p:txBody>
      </p:sp>
      <p:cxnSp>
        <p:nvCxnSpPr>
          <p:cNvPr id="169" name="Conector recto de flecha 168">
            <a:extLst>
              <a:ext uri="{FF2B5EF4-FFF2-40B4-BE49-F238E27FC236}">
                <a16:creationId xmlns:a16="http://schemas.microsoft.com/office/drawing/2014/main" id="{CC2297DB-B46C-BBF2-5A36-855FBE34AA8A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6127730" y="962557"/>
            <a:ext cx="2580065" cy="2345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Rounded Rectangle 13">
            <a:extLst>
              <a:ext uri="{FF2B5EF4-FFF2-40B4-BE49-F238E27FC236}">
                <a16:creationId xmlns:a16="http://schemas.microsoft.com/office/drawing/2014/main" id="{4AA1CFB9-C370-2F91-1C14-FFA0DC3C054C}"/>
              </a:ext>
            </a:extLst>
          </p:cNvPr>
          <p:cNvSpPr/>
          <p:nvPr/>
        </p:nvSpPr>
        <p:spPr>
          <a:xfrm>
            <a:off x="8677529" y="4060364"/>
            <a:ext cx="3199694" cy="13915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Binning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refinement</a:t>
            </a:r>
            <a:endParaRPr lang="es-ES"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MetaWRAP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-c 50 -x 10</a:t>
            </a:r>
          </a:p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Dereplication</a:t>
            </a:r>
            <a:r>
              <a:rPr lang="es-ES" sz="16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dRep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7" name="Rounded Rectangle 20">
            <a:extLst>
              <a:ext uri="{FF2B5EF4-FFF2-40B4-BE49-F238E27FC236}">
                <a16:creationId xmlns:a16="http://schemas.microsoft.com/office/drawing/2014/main" id="{850A862E-4561-536F-E3A1-EE0FAF8C8D88}"/>
              </a:ext>
            </a:extLst>
          </p:cNvPr>
          <p:cNvSpPr/>
          <p:nvPr/>
        </p:nvSpPr>
        <p:spPr>
          <a:xfrm>
            <a:off x="12821875" y="4341901"/>
            <a:ext cx="2015052" cy="86646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Taxonomy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GTDBtk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80" name="Conector recto de flecha 179">
            <a:extLst>
              <a:ext uri="{FF2B5EF4-FFF2-40B4-BE49-F238E27FC236}">
                <a16:creationId xmlns:a16="http://schemas.microsoft.com/office/drawing/2014/main" id="{23AFB293-7D7C-8321-8EE1-557EE49DD997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277376" y="1532602"/>
            <a:ext cx="4764" cy="305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Conector recto de flecha 182">
            <a:extLst>
              <a:ext uri="{FF2B5EF4-FFF2-40B4-BE49-F238E27FC236}">
                <a16:creationId xmlns:a16="http://schemas.microsoft.com/office/drawing/2014/main" id="{9EF14B55-3090-E33B-E072-DB076867E281}"/>
              </a:ext>
            </a:extLst>
          </p:cNvPr>
          <p:cNvCxnSpPr>
            <a:cxnSpLocks/>
            <a:stCxn id="14" idx="2"/>
            <a:endCxn id="176" idx="0"/>
          </p:cNvCxnSpPr>
          <p:nvPr/>
        </p:nvCxnSpPr>
        <p:spPr>
          <a:xfrm flipH="1">
            <a:off x="10277379" y="3832831"/>
            <a:ext cx="1" cy="2275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Rounded Rectangle 20">
            <a:extLst>
              <a:ext uri="{FF2B5EF4-FFF2-40B4-BE49-F238E27FC236}">
                <a16:creationId xmlns:a16="http://schemas.microsoft.com/office/drawing/2014/main" id="{352705B3-3D92-0DE9-A8EF-BF4519B9FB7A}"/>
              </a:ext>
            </a:extLst>
          </p:cNvPr>
          <p:cNvSpPr/>
          <p:nvPr/>
        </p:nvSpPr>
        <p:spPr>
          <a:xfrm>
            <a:off x="12123016" y="392507"/>
            <a:ext cx="3396423" cy="26457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Final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refinements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(i) QS =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completeness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− (5 ×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contamination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Remove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QS &lt; 50</a:t>
            </a:r>
          </a:p>
          <a:p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High-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quality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Completeness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≥90%</a:t>
            </a: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Contamination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≤5%</a:t>
            </a:r>
          </a:p>
          <a:p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iii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Medium-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quality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Completeness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&gt;50%</a:t>
            </a: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Contamination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≤10%</a:t>
            </a:r>
            <a:endParaRPr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6AB26867-880E-821B-E203-4D13A2B2EC92}"/>
              </a:ext>
            </a:extLst>
          </p:cNvPr>
          <p:cNvCxnSpPr>
            <a:cxnSpLocks/>
            <a:stCxn id="176" idx="3"/>
            <a:endCxn id="185" idx="1"/>
          </p:cNvCxnSpPr>
          <p:nvPr/>
        </p:nvCxnSpPr>
        <p:spPr>
          <a:xfrm flipV="1">
            <a:off x="11877222" y="1715361"/>
            <a:ext cx="245790" cy="3040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Conector recto de flecha 189">
            <a:extLst>
              <a:ext uri="{FF2B5EF4-FFF2-40B4-BE49-F238E27FC236}">
                <a16:creationId xmlns:a16="http://schemas.microsoft.com/office/drawing/2014/main" id="{74E620F2-1B80-5A0F-035B-36357AF031CC}"/>
              </a:ext>
            </a:extLst>
          </p:cNvPr>
          <p:cNvCxnSpPr>
            <a:cxnSpLocks/>
            <a:stCxn id="185" idx="2"/>
            <a:endCxn id="21" idx="0"/>
          </p:cNvCxnSpPr>
          <p:nvPr/>
        </p:nvCxnSpPr>
        <p:spPr>
          <a:xfrm>
            <a:off x="13821228" y="3038211"/>
            <a:ext cx="8177" cy="2186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Conector recto de flecha 193">
            <a:extLst>
              <a:ext uri="{FF2B5EF4-FFF2-40B4-BE49-F238E27FC236}">
                <a16:creationId xmlns:a16="http://schemas.microsoft.com/office/drawing/2014/main" id="{650500FB-F1DC-F105-EC93-AA76FD663032}"/>
              </a:ext>
            </a:extLst>
          </p:cNvPr>
          <p:cNvCxnSpPr>
            <a:cxnSpLocks/>
            <a:stCxn id="21" idx="2"/>
            <a:endCxn id="177" idx="0"/>
          </p:cNvCxnSpPr>
          <p:nvPr/>
        </p:nvCxnSpPr>
        <p:spPr>
          <a:xfrm>
            <a:off x="13829401" y="4123290"/>
            <a:ext cx="0" cy="2186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5" name="CuadroTexto 244">
            <a:extLst>
              <a:ext uri="{FF2B5EF4-FFF2-40B4-BE49-F238E27FC236}">
                <a16:creationId xmlns:a16="http://schemas.microsoft.com/office/drawing/2014/main" id="{B2FFCEE5-4C9D-67C3-7296-25DDA6A2DD5B}"/>
              </a:ext>
            </a:extLst>
          </p:cNvPr>
          <p:cNvSpPr txBox="1"/>
          <p:nvPr/>
        </p:nvSpPr>
        <p:spPr>
          <a:xfrm rot="16200000">
            <a:off x="14780364" y="6397643"/>
            <a:ext cx="2471147" cy="648000"/>
          </a:xfrm>
          <a:prstGeom prst="rect">
            <a:avLst/>
          </a:prstGeom>
          <a:solidFill>
            <a:srgbClr val="FDB8FA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Ecological</a:t>
            </a:r>
            <a:r>
              <a:rPr lang="es-ES" sz="2000" b="1" dirty="0"/>
              <a:t> </a:t>
            </a:r>
            <a:r>
              <a:rPr lang="es-ES" sz="2000" b="1" dirty="0" err="1"/>
              <a:t>analysis</a:t>
            </a:r>
            <a:endParaRPr lang="es-ES" sz="2000" b="1" dirty="0"/>
          </a:p>
        </p:txBody>
      </p:sp>
      <p:sp>
        <p:nvSpPr>
          <p:cNvPr id="248" name="Rounded Rectangle 16">
            <a:extLst>
              <a:ext uri="{FF2B5EF4-FFF2-40B4-BE49-F238E27FC236}">
                <a16:creationId xmlns:a16="http://schemas.microsoft.com/office/drawing/2014/main" id="{412E3C18-4A32-6C78-5216-D69FD7A9295B}"/>
              </a:ext>
            </a:extLst>
          </p:cNvPr>
          <p:cNvSpPr/>
          <p:nvPr/>
        </p:nvSpPr>
        <p:spPr>
          <a:xfrm>
            <a:off x="12304160" y="5636566"/>
            <a:ext cx="2816352" cy="768096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table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9" name="Rounded Rectangle 23">
            <a:extLst>
              <a:ext uri="{FF2B5EF4-FFF2-40B4-BE49-F238E27FC236}">
                <a16:creationId xmlns:a16="http://schemas.microsoft.com/office/drawing/2014/main" id="{DAD4B6EF-2C84-2214-EC4C-ECB30DDAFDF3}"/>
              </a:ext>
            </a:extLst>
          </p:cNvPr>
          <p:cNvSpPr/>
          <p:nvPr/>
        </p:nvSpPr>
        <p:spPr>
          <a:xfrm>
            <a:off x="10806799" y="6996965"/>
            <a:ext cx="2336906" cy="952205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Shared,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unique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core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common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 rare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assesment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50" name="Rounded Rectangle 23">
            <a:extLst>
              <a:ext uri="{FF2B5EF4-FFF2-40B4-BE49-F238E27FC236}">
                <a16:creationId xmlns:a16="http://schemas.microsoft.com/office/drawing/2014/main" id="{290FF083-BE0C-1666-534C-A9B552781FD6}"/>
              </a:ext>
            </a:extLst>
          </p:cNvPr>
          <p:cNvSpPr/>
          <p:nvPr/>
        </p:nvSpPr>
        <p:spPr>
          <a:xfrm>
            <a:off x="13360104" y="6989924"/>
            <a:ext cx="2112215" cy="992245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Microdiversity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analysis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252" name="Conector recto de flecha 251">
            <a:extLst>
              <a:ext uri="{FF2B5EF4-FFF2-40B4-BE49-F238E27FC236}">
                <a16:creationId xmlns:a16="http://schemas.microsoft.com/office/drawing/2014/main" id="{1EFB398C-236F-82E7-AC1B-3D8F96F4772A}"/>
              </a:ext>
            </a:extLst>
          </p:cNvPr>
          <p:cNvCxnSpPr>
            <a:cxnSpLocks/>
            <a:stCxn id="138" idx="3"/>
            <a:endCxn id="17" idx="1"/>
          </p:cNvCxnSpPr>
          <p:nvPr/>
        </p:nvCxnSpPr>
        <p:spPr>
          <a:xfrm flipV="1">
            <a:off x="5818983" y="6125800"/>
            <a:ext cx="2684215" cy="62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5" name="Conector recto de flecha 254">
            <a:extLst>
              <a:ext uri="{FF2B5EF4-FFF2-40B4-BE49-F238E27FC236}">
                <a16:creationId xmlns:a16="http://schemas.microsoft.com/office/drawing/2014/main" id="{F8990F0A-4642-3A2B-B35A-8DC405F5B92A}"/>
              </a:ext>
            </a:extLst>
          </p:cNvPr>
          <p:cNvCxnSpPr>
            <a:cxnSpLocks/>
            <a:stCxn id="17" idx="3"/>
            <a:endCxn id="248" idx="1"/>
          </p:cNvCxnSpPr>
          <p:nvPr/>
        </p:nvCxnSpPr>
        <p:spPr>
          <a:xfrm flipV="1">
            <a:off x="11319550" y="6020614"/>
            <a:ext cx="984610" cy="105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8" name="Conector recto de flecha 257">
            <a:extLst>
              <a:ext uri="{FF2B5EF4-FFF2-40B4-BE49-F238E27FC236}">
                <a16:creationId xmlns:a16="http://schemas.microsoft.com/office/drawing/2014/main" id="{E8F5F9DF-4BE3-2112-4644-8349F053782C}"/>
              </a:ext>
            </a:extLst>
          </p:cNvPr>
          <p:cNvCxnSpPr>
            <a:cxnSpLocks/>
            <a:stCxn id="248" idx="2"/>
            <a:endCxn id="24" idx="0"/>
          </p:cNvCxnSpPr>
          <p:nvPr/>
        </p:nvCxnSpPr>
        <p:spPr>
          <a:xfrm flipH="1">
            <a:off x="9516001" y="6404662"/>
            <a:ext cx="4196335" cy="5852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1" name="Conector recto de flecha 260">
            <a:extLst>
              <a:ext uri="{FF2B5EF4-FFF2-40B4-BE49-F238E27FC236}">
                <a16:creationId xmlns:a16="http://schemas.microsoft.com/office/drawing/2014/main" id="{1AA40834-6EBB-B104-59F5-A290B85199D0}"/>
              </a:ext>
            </a:extLst>
          </p:cNvPr>
          <p:cNvCxnSpPr>
            <a:cxnSpLocks/>
            <a:stCxn id="248" idx="2"/>
            <a:endCxn id="249" idx="0"/>
          </p:cNvCxnSpPr>
          <p:nvPr/>
        </p:nvCxnSpPr>
        <p:spPr>
          <a:xfrm flipH="1">
            <a:off x="11975252" y="6404662"/>
            <a:ext cx="1737084" cy="5923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Conector recto de flecha 263">
            <a:extLst>
              <a:ext uri="{FF2B5EF4-FFF2-40B4-BE49-F238E27FC236}">
                <a16:creationId xmlns:a16="http://schemas.microsoft.com/office/drawing/2014/main" id="{860DDB5B-A35B-1875-25B2-C870B74657B3}"/>
              </a:ext>
            </a:extLst>
          </p:cNvPr>
          <p:cNvCxnSpPr>
            <a:cxnSpLocks/>
            <a:stCxn id="248" idx="2"/>
            <a:endCxn id="250" idx="0"/>
          </p:cNvCxnSpPr>
          <p:nvPr/>
        </p:nvCxnSpPr>
        <p:spPr>
          <a:xfrm>
            <a:off x="13712336" y="6404662"/>
            <a:ext cx="703876" cy="5852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7" name="Rounded Rectangle 16">
            <a:extLst>
              <a:ext uri="{FF2B5EF4-FFF2-40B4-BE49-F238E27FC236}">
                <a16:creationId xmlns:a16="http://schemas.microsoft.com/office/drawing/2014/main" id="{823B6CD7-6FEC-949B-F792-2271F819F116}"/>
              </a:ext>
            </a:extLst>
          </p:cNvPr>
          <p:cNvSpPr/>
          <p:nvPr/>
        </p:nvSpPr>
        <p:spPr>
          <a:xfrm>
            <a:off x="10761873" y="8291907"/>
            <a:ext cx="2816352" cy="9522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Taxonomy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400050" indent="-400050" algn="ctr">
              <a:buAutoNum type="romanLcParenBoth"/>
            </a:pP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vConTACT3 default</a:t>
            </a:r>
          </a:p>
          <a:p>
            <a:pPr marL="400050" indent="-400050" algn="ctr">
              <a:buAutoNum type="romanLcParenBoth"/>
            </a:pP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geNomad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3608A52A-58ED-41D4-CBC6-45EB6AA6C258}"/>
              </a:ext>
            </a:extLst>
          </p:cNvPr>
          <p:cNvSpPr txBox="1"/>
          <p:nvPr/>
        </p:nvSpPr>
        <p:spPr>
          <a:xfrm rot="16200000">
            <a:off x="15353430" y="8462700"/>
            <a:ext cx="1259550" cy="64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Taxonomy</a:t>
            </a:r>
            <a:endParaRPr lang="es-ES" sz="2000" b="1" dirty="0"/>
          </a:p>
        </p:txBody>
      </p:sp>
      <p:cxnSp>
        <p:nvCxnSpPr>
          <p:cNvPr id="280" name="Conector recto de flecha 279">
            <a:extLst>
              <a:ext uri="{FF2B5EF4-FFF2-40B4-BE49-F238E27FC236}">
                <a16:creationId xmlns:a16="http://schemas.microsoft.com/office/drawing/2014/main" id="{9CC44339-439C-3ABD-AAD9-D0B8E7261442}"/>
              </a:ext>
            </a:extLst>
          </p:cNvPr>
          <p:cNvCxnSpPr>
            <a:cxnSpLocks/>
            <a:stCxn id="138" idx="3"/>
            <a:endCxn id="277" idx="1"/>
          </p:cNvCxnSpPr>
          <p:nvPr/>
        </p:nvCxnSpPr>
        <p:spPr>
          <a:xfrm flipV="1">
            <a:off x="5818983" y="8768010"/>
            <a:ext cx="4942890" cy="35775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2" name="Rounded Rectangle 16">
            <a:extLst>
              <a:ext uri="{FF2B5EF4-FFF2-40B4-BE49-F238E27FC236}">
                <a16:creationId xmlns:a16="http://schemas.microsoft.com/office/drawing/2014/main" id="{7AF10BD3-0712-63D8-64E1-BE54B06AAED0}"/>
              </a:ext>
            </a:extLst>
          </p:cNvPr>
          <p:cNvSpPr/>
          <p:nvPr/>
        </p:nvSpPr>
        <p:spPr>
          <a:xfrm>
            <a:off x="10714836" y="9553849"/>
            <a:ext cx="2816352" cy="233247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Host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prediction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(i)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iPHoP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default DB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local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CRISPR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spacer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matching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MinCED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BLASTn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B616269F-7303-3DB4-B195-0E5075C88627}"/>
              </a:ext>
            </a:extLst>
          </p:cNvPr>
          <p:cNvSpPr txBox="1"/>
          <p:nvPr/>
        </p:nvSpPr>
        <p:spPr>
          <a:xfrm rot="16200000">
            <a:off x="15000739" y="10431357"/>
            <a:ext cx="1956009" cy="64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/>
              <a:t>Host</a:t>
            </a:r>
          </a:p>
        </p:txBody>
      </p:sp>
      <p:cxnSp>
        <p:nvCxnSpPr>
          <p:cNvPr id="285" name="Conector recto de flecha 284">
            <a:extLst>
              <a:ext uri="{FF2B5EF4-FFF2-40B4-BE49-F238E27FC236}">
                <a16:creationId xmlns:a16="http://schemas.microsoft.com/office/drawing/2014/main" id="{32544DAF-FEA8-559E-240C-D50280817BC2}"/>
              </a:ext>
            </a:extLst>
          </p:cNvPr>
          <p:cNvCxnSpPr>
            <a:cxnSpLocks/>
            <a:stCxn id="138" idx="3"/>
            <a:endCxn id="282" idx="1"/>
          </p:cNvCxnSpPr>
          <p:nvPr/>
        </p:nvCxnSpPr>
        <p:spPr>
          <a:xfrm flipV="1">
            <a:off x="5818983" y="10720086"/>
            <a:ext cx="4895853" cy="16254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7" name="Rounded Rectangle 16">
            <a:extLst>
              <a:ext uri="{FF2B5EF4-FFF2-40B4-BE49-F238E27FC236}">
                <a16:creationId xmlns:a16="http://schemas.microsoft.com/office/drawing/2014/main" id="{F326E30B-A20F-A864-BEB0-443F7E58A42E}"/>
              </a:ext>
            </a:extLst>
          </p:cNvPr>
          <p:cNvSpPr/>
          <p:nvPr/>
        </p:nvSpPr>
        <p:spPr>
          <a:xfrm>
            <a:off x="10670794" y="12267976"/>
            <a:ext cx="2816352" cy="1122113"/>
          </a:xfrm>
          <a:prstGeom prst="roundRect">
            <a:avLst/>
          </a:prstGeom>
          <a:solidFill>
            <a:srgbClr val="E0D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AMG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prediction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-DRAMv &amp; DRAM (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-KEGG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mapper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FBFEC29E-1AB0-C35C-020D-5029768352B1}"/>
              </a:ext>
            </a:extLst>
          </p:cNvPr>
          <p:cNvSpPr txBox="1"/>
          <p:nvPr/>
        </p:nvSpPr>
        <p:spPr>
          <a:xfrm rot="16200000">
            <a:off x="15190202" y="12558782"/>
            <a:ext cx="1577083" cy="648000"/>
          </a:xfrm>
          <a:prstGeom prst="rect">
            <a:avLst/>
          </a:prstGeom>
          <a:solidFill>
            <a:srgbClr val="E0D136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Functionality</a:t>
            </a:r>
            <a:endParaRPr lang="es-ES" sz="2000" b="1" dirty="0"/>
          </a:p>
        </p:txBody>
      </p:sp>
      <p:cxnSp>
        <p:nvCxnSpPr>
          <p:cNvPr id="291" name="Conector recto de flecha 290">
            <a:extLst>
              <a:ext uri="{FF2B5EF4-FFF2-40B4-BE49-F238E27FC236}">
                <a16:creationId xmlns:a16="http://schemas.microsoft.com/office/drawing/2014/main" id="{64FFF6B7-CC75-9FE9-817C-9941355D1ACE}"/>
              </a:ext>
            </a:extLst>
          </p:cNvPr>
          <p:cNvCxnSpPr>
            <a:cxnSpLocks/>
            <a:stCxn id="138" idx="3"/>
            <a:endCxn id="287" idx="1"/>
          </p:cNvCxnSpPr>
          <p:nvPr/>
        </p:nvCxnSpPr>
        <p:spPr>
          <a:xfrm>
            <a:off x="5818983" y="12345555"/>
            <a:ext cx="4851811" cy="4834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0" name="Conector recto de flecha 319">
            <a:extLst>
              <a:ext uri="{FF2B5EF4-FFF2-40B4-BE49-F238E27FC236}">
                <a16:creationId xmlns:a16="http://schemas.microsoft.com/office/drawing/2014/main" id="{D57D834D-C5BB-3466-5700-9FD1BC2C6691}"/>
              </a:ext>
            </a:extLst>
          </p:cNvPr>
          <p:cNvCxnSpPr>
            <a:cxnSpLocks/>
            <a:stCxn id="138" idx="2"/>
            <a:endCxn id="321" idx="0"/>
          </p:cNvCxnSpPr>
          <p:nvPr/>
        </p:nvCxnSpPr>
        <p:spPr>
          <a:xfrm flipH="1">
            <a:off x="2515820" y="13220701"/>
            <a:ext cx="2066505" cy="86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1" name="Rounded Rectangle 11">
            <a:extLst>
              <a:ext uri="{FF2B5EF4-FFF2-40B4-BE49-F238E27FC236}">
                <a16:creationId xmlns:a16="http://schemas.microsoft.com/office/drawing/2014/main" id="{04D622ED-D446-4FF6-E777-B9D3840F3C5B}"/>
              </a:ext>
            </a:extLst>
          </p:cNvPr>
          <p:cNvSpPr/>
          <p:nvPr/>
        </p:nvSpPr>
        <p:spPr>
          <a:xfrm>
            <a:off x="1111563" y="13306792"/>
            <a:ext cx="2808514" cy="9081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 err="1">
                <a:solidFill>
                  <a:schemeClr val="tx1"/>
                </a:solidFill>
              </a:rPr>
              <a:t>Quality</a:t>
            </a:r>
            <a:r>
              <a:rPr lang="es-ES" sz="1800" b="1" dirty="0">
                <a:solidFill>
                  <a:schemeClr val="tx1"/>
                </a:solidFill>
              </a:rPr>
              <a:t> &amp; </a:t>
            </a:r>
            <a:r>
              <a:rPr lang="es-ES" sz="1800" b="1" dirty="0" err="1">
                <a:solidFill>
                  <a:schemeClr val="tx1"/>
                </a:solidFill>
              </a:rPr>
              <a:t>completeness</a:t>
            </a:r>
            <a:endParaRPr lang="es-ES" sz="1800" b="1" dirty="0">
              <a:solidFill>
                <a:schemeClr val="tx1"/>
              </a:solidFill>
            </a:endParaRPr>
          </a:p>
          <a:p>
            <a:pPr algn="ctr"/>
            <a:r>
              <a:rPr lang="es-ES" sz="1800" b="1" dirty="0" err="1">
                <a:solidFill>
                  <a:schemeClr val="tx1"/>
                </a:solidFill>
              </a:rPr>
              <a:t>assessment</a:t>
            </a:r>
            <a:endParaRPr lang="es-ES" sz="1800" b="1" dirty="0">
              <a:solidFill>
                <a:schemeClr val="tx1"/>
              </a:solidFill>
            </a:endParaRPr>
          </a:p>
          <a:p>
            <a:pPr algn="ctr"/>
            <a:r>
              <a:rPr lang="es-ES" sz="1800" dirty="0" err="1">
                <a:solidFill>
                  <a:schemeClr val="tx1"/>
                </a:solidFill>
              </a:rPr>
              <a:t>Check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34" name="Rounded Rectangle 11">
            <a:extLst>
              <a:ext uri="{FF2B5EF4-FFF2-40B4-BE49-F238E27FC236}">
                <a16:creationId xmlns:a16="http://schemas.microsoft.com/office/drawing/2014/main" id="{26DF3A7E-0215-055B-4DCB-D48D09A03848}"/>
              </a:ext>
            </a:extLst>
          </p:cNvPr>
          <p:cNvSpPr/>
          <p:nvPr/>
        </p:nvSpPr>
        <p:spPr>
          <a:xfrm>
            <a:off x="5867392" y="13217232"/>
            <a:ext cx="2945555" cy="9081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 err="1">
                <a:solidFill>
                  <a:schemeClr val="tx1"/>
                </a:solidFill>
              </a:rPr>
              <a:t>Lifestyle</a:t>
            </a:r>
            <a:r>
              <a:rPr lang="es-ES" sz="1800" b="1" dirty="0">
                <a:solidFill>
                  <a:schemeClr val="tx1"/>
                </a:solidFill>
              </a:rPr>
              <a:t> </a:t>
            </a:r>
            <a:r>
              <a:rPr lang="es-ES" sz="1800" b="1" dirty="0" err="1">
                <a:solidFill>
                  <a:schemeClr val="tx1"/>
                </a:solidFill>
              </a:rPr>
              <a:t>prediction</a:t>
            </a:r>
            <a:endParaRPr lang="es-ES" sz="1800" b="1" dirty="0">
              <a:solidFill>
                <a:schemeClr val="tx1"/>
              </a:solidFill>
            </a:endParaRPr>
          </a:p>
          <a:p>
            <a:pPr algn="ctr"/>
            <a:r>
              <a:rPr lang="es-ES" sz="1800" b="1" dirty="0">
                <a:solidFill>
                  <a:schemeClr val="tx1"/>
                </a:solidFill>
              </a:rPr>
              <a:t>(</a:t>
            </a:r>
            <a:r>
              <a:rPr lang="es-ES" sz="1800" b="1" dirty="0" err="1">
                <a:solidFill>
                  <a:schemeClr val="tx1"/>
                </a:solidFill>
              </a:rPr>
              <a:t>lytic</a:t>
            </a:r>
            <a:r>
              <a:rPr lang="es-ES" sz="1800" b="1" dirty="0">
                <a:solidFill>
                  <a:schemeClr val="tx1"/>
                </a:solidFill>
              </a:rPr>
              <a:t> vs </a:t>
            </a:r>
            <a:r>
              <a:rPr lang="es-ES" sz="1800" b="1" dirty="0" err="1">
                <a:solidFill>
                  <a:schemeClr val="tx1"/>
                </a:solidFill>
              </a:rPr>
              <a:t>temperate</a:t>
            </a:r>
            <a:r>
              <a:rPr lang="es-ES" sz="180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</a:rPr>
              <a:t>VIBRANT</a:t>
            </a:r>
          </a:p>
        </p:txBody>
      </p:sp>
      <p:cxnSp>
        <p:nvCxnSpPr>
          <p:cNvPr id="336" name="Conector recto de flecha 335">
            <a:extLst>
              <a:ext uri="{FF2B5EF4-FFF2-40B4-BE49-F238E27FC236}">
                <a16:creationId xmlns:a16="http://schemas.microsoft.com/office/drawing/2014/main" id="{5C2178FC-1DB0-1AC1-D0DA-BA598AFFFCC4}"/>
              </a:ext>
            </a:extLst>
          </p:cNvPr>
          <p:cNvCxnSpPr>
            <a:cxnSpLocks/>
            <a:stCxn id="138" idx="2"/>
            <a:endCxn id="334" idx="1"/>
          </p:cNvCxnSpPr>
          <p:nvPr/>
        </p:nvCxnSpPr>
        <p:spPr>
          <a:xfrm>
            <a:off x="4582325" y="13220701"/>
            <a:ext cx="1285067" cy="450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243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45602" y="461546"/>
            <a:ext cx="3148695" cy="96897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Raw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metagenomics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reads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n = </a:t>
            </a:r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12</a:t>
            </a:r>
            <a:endParaRPr sz="1800" dirty="0">
              <a:solidFill>
                <a:srgbClr val="FF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094054" y="1981713"/>
            <a:ext cx="3033676" cy="5849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uality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control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FASTQ +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Trimmomatic</a:t>
            </a:r>
            <a:endParaRPr sz="2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94054" y="2823425"/>
            <a:ext cx="3033676" cy="968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Dual a</a:t>
            </a:r>
            <a:r>
              <a:rPr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ssembly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sz="20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metaSPAdes</a:t>
            </a:r>
            <a:r>
              <a:rPr lang="es-ES" sz="20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+</a:t>
            </a:r>
            <a:r>
              <a:rPr sz="20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MEGAHIT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9790" y="5494354"/>
            <a:ext cx="256032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Identified contigs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20843</a:t>
            </a:r>
            <a:endParaRPr sz="1800" dirty="0">
              <a:solidFill>
                <a:srgbClr val="FF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81608" y="6286325"/>
            <a:ext cx="3465089" cy="165801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 2</a:t>
            </a:r>
          </a:p>
          <a:p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i) Virus genes</a:t>
            </a:r>
            <a:r>
              <a:rPr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&gt;0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</a:t>
            </a:r>
            <a:endParaRPr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v</a:t>
            </a:r>
            <a:r>
              <a:rPr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irus</a:t>
            </a:r>
            <a:r>
              <a:rPr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gene =0 and host gene </a:t>
            </a:r>
            <a:r>
              <a:rPr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= 0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</a:t>
            </a:r>
          </a:p>
          <a:p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iii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Those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unknown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genes ≥ 75%</a:t>
            </a:r>
          </a:p>
          <a:p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iv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virus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contigs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length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≥1 kb </a:t>
            </a:r>
          </a:p>
          <a:p>
            <a:r>
              <a:rPr lang="es-ES" sz="1400" b="1" dirty="0" err="1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Identified</a:t>
            </a:r>
            <a:r>
              <a:rPr lang="es-ES" sz="1400" b="1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b="1" dirty="0" err="1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contigs</a:t>
            </a:r>
            <a:r>
              <a:rPr lang="es-ES" sz="1400" b="1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20843</a:t>
            </a:r>
            <a:endParaRPr lang="es-ES" sz="1400" dirty="0">
              <a:solidFill>
                <a:srgbClr val="FF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iv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Trim host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region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CheckV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790" y="8936427"/>
            <a:ext cx="2560320" cy="112804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clustering</a:t>
            </a:r>
            <a:endParaRPr lang="es-ES"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MMseq2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(≥95% ID across ≥80% length)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9790" y="10250308"/>
            <a:ext cx="2560320" cy="110744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15546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≥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1 kb)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4361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(≥5 kb)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2024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(≥10 kb)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07795" y="392511"/>
            <a:ext cx="3148695" cy="11400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recovery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565006" y="1838431"/>
            <a:ext cx="3424747" cy="19944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Binning</a:t>
            </a:r>
            <a:endParaRPr lang="es-ES"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Contigs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≥ 1 kb are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binned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-BinSanity: Min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scaffold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3 kb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-ABAWACA:  Min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scaffold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5 kb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-MaxBin2:  40 &amp; 107 gene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marker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-CONCOCT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-MetaBAT2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198" y="5661496"/>
            <a:ext cx="2816352" cy="928608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Read mapping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(minimap2 +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SAMtools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+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CoverM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21875" y="3256822"/>
            <a:ext cx="2015052" cy="86646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Quallity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check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CheckM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635797" y="6989925"/>
            <a:ext cx="1760408" cy="952205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α, β Diversity</a:t>
            </a:r>
          </a:p>
        </p:txBody>
      </p:sp>
      <p:sp>
        <p:nvSpPr>
          <p:cNvPr id="54" name="Rounded Rectangle 6">
            <a:extLst>
              <a:ext uri="{FF2B5EF4-FFF2-40B4-BE49-F238E27FC236}">
                <a16:creationId xmlns:a16="http://schemas.microsoft.com/office/drawing/2014/main" id="{2D9122A7-46CE-BA5B-8D6A-22BA9EFAD493}"/>
              </a:ext>
            </a:extLst>
          </p:cNvPr>
          <p:cNvSpPr/>
          <p:nvPr/>
        </p:nvSpPr>
        <p:spPr>
          <a:xfrm>
            <a:off x="3812091" y="4135745"/>
            <a:ext cx="1604122" cy="11747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 1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G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N</a:t>
            </a:r>
            <a:r>
              <a:rPr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omad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default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7" name="Rounded Rectangle 7">
            <a:extLst>
              <a:ext uri="{FF2B5EF4-FFF2-40B4-BE49-F238E27FC236}">
                <a16:creationId xmlns:a16="http://schemas.microsoft.com/office/drawing/2014/main" id="{E6F6D653-CD8A-036F-E5D4-0AB2314CC131}"/>
              </a:ext>
            </a:extLst>
          </p:cNvPr>
          <p:cNvSpPr/>
          <p:nvPr/>
        </p:nvSpPr>
        <p:spPr>
          <a:xfrm>
            <a:off x="3339790" y="8112467"/>
            <a:ext cx="256032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Identified contigs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20395</a:t>
            </a:r>
            <a:endParaRPr sz="1800" dirty="0">
              <a:solidFill>
                <a:srgbClr val="FF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3337853-2FD5-05DC-3E64-2305A0E2E8ED}"/>
              </a:ext>
            </a:extLst>
          </p:cNvPr>
          <p:cNvSpPr txBox="1"/>
          <p:nvPr/>
        </p:nvSpPr>
        <p:spPr>
          <a:xfrm rot="16200000">
            <a:off x="-228652" y="853057"/>
            <a:ext cx="1756229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/>
              <a:t>Metagenomics</a:t>
            </a:r>
            <a:r>
              <a:rPr lang="es-ES" sz="2000" b="1" dirty="0"/>
              <a:t> </a:t>
            </a:r>
            <a:r>
              <a:rPr lang="es-ES" sz="2000" b="1" dirty="0" err="1"/>
              <a:t>samples</a:t>
            </a:r>
            <a:endParaRPr lang="es-ES" sz="2000" b="1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E5A0A81-E843-6EF1-E43B-D465B71D37BF}"/>
              </a:ext>
            </a:extLst>
          </p:cNvPr>
          <p:cNvSpPr txBox="1"/>
          <p:nvPr/>
        </p:nvSpPr>
        <p:spPr>
          <a:xfrm rot="16200000">
            <a:off x="-228651" y="2701416"/>
            <a:ext cx="1756227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/>
              <a:t>Metagenomics</a:t>
            </a:r>
            <a:r>
              <a:rPr lang="es-ES" sz="2000" b="1" dirty="0"/>
              <a:t> </a:t>
            </a:r>
            <a:r>
              <a:rPr lang="es-ES" sz="2000" b="1" dirty="0" err="1"/>
              <a:t>processing</a:t>
            </a:r>
            <a:endParaRPr lang="es-ES" sz="2000" b="1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57F7224-348D-0773-2CDC-7318B9093692}"/>
              </a:ext>
            </a:extLst>
          </p:cNvPr>
          <p:cNvSpPr txBox="1"/>
          <p:nvPr/>
        </p:nvSpPr>
        <p:spPr>
          <a:xfrm rot="16200000">
            <a:off x="-1745387" y="6047220"/>
            <a:ext cx="4726945" cy="72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/>
              <a:t>Viral </a:t>
            </a:r>
            <a:r>
              <a:rPr lang="es-ES" sz="2000" b="1" dirty="0" err="1"/>
              <a:t>identification</a:t>
            </a:r>
            <a:endParaRPr lang="es-ES" sz="2000" b="1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630177B-EC03-399E-DA2F-0E309195ECDE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4610892" y="1430516"/>
            <a:ext cx="9058" cy="551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A2D3488-0D82-61D4-C370-79ABE86D70EA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610892" y="2566635"/>
            <a:ext cx="0" cy="2567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24BB12FA-988F-26DE-6898-7F9B8DBA00B2}"/>
              </a:ext>
            </a:extLst>
          </p:cNvPr>
          <p:cNvCxnSpPr>
            <a:cxnSpLocks/>
            <a:stCxn id="6" idx="2"/>
            <a:endCxn id="54" idx="0"/>
          </p:cNvCxnSpPr>
          <p:nvPr/>
        </p:nvCxnSpPr>
        <p:spPr>
          <a:xfrm>
            <a:off x="4610892" y="3792395"/>
            <a:ext cx="3260" cy="343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7606B944-FC67-1E55-F64B-ACC52C2439A4}"/>
              </a:ext>
            </a:extLst>
          </p:cNvPr>
          <p:cNvCxnSpPr>
            <a:cxnSpLocks/>
            <a:stCxn id="54" idx="2"/>
            <a:endCxn id="8" idx="0"/>
          </p:cNvCxnSpPr>
          <p:nvPr/>
        </p:nvCxnSpPr>
        <p:spPr>
          <a:xfrm>
            <a:off x="4614152" y="5310474"/>
            <a:ext cx="5798" cy="183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43476616-F47C-B54B-3AAE-8A4B92B797F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614153" y="6134434"/>
            <a:ext cx="5797" cy="1518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759DE491-3785-60E4-44E9-2824C17818F5}"/>
              </a:ext>
            </a:extLst>
          </p:cNvPr>
          <p:cNvCxnSpPr>
            <a:cxnSpLocks/>
            <a:stCxn id="9" idx="2"/>
            <a:endCxn id="57" idx="0"/>
          </p:cNvCxnSpPr>
          <p:nvPr/>
        </p:nvCxnSpPr>
        <p:spPr>
          <a:xfrm>
            <a:off x="4614153" y="7944338"/>
            <a:ext cx="5797" cy="168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8006F928-5930-EC0E-3C55-E7E6FBDDE932}"/>
              </a:ext>
            </a:extLst>
          </p:cNvPr>
          <p:cNvSpPr txBox="1"/>
          <p:nvPr/>
        </p:nvSpPr>
        <p:spPr>
          <a:xfrm rot="16200000">
            <a:off x="-1923263" y="11087726"/>
            <a:ext cx="5052538" cy="7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/>
              <a:t>Viral </a:t>
            </a:r>
            <a:r>
              <a:rPr lang="es-ES" sz="2000" b="1" dirty="0" err="1"/>
              <a:t>operational</a:t>
            </a:r>
            <a:r>
              <a:rPr lang="es-ES" sz="2000" b="1" dirty="0"/>
              <a:t> </a:t>
            </a:r>
            <a:r>
              <a:rPr lang="es-ES" sz="2000" b="1" dirty="0" err="1"/>
              <a:t>taxonomic</a:t>
            </a:r>
            <a:r>
              <a:rPr lang="es-ES" sz="2000" b="1" dirty="0"/>
              <a:t> </a:t>
            </a:r>
            <a:r>
              <a:rPr lang="es-ES" sz="2000" b="1" dirty="0" err="1"/>
              <a:t>units</a:t>
            </a:r>
            <a:r>
              <a:rPr lang="es-ES" sz="2000" b="1" dirty="0"/>
              <a:t> (</a:t>
            </a:r>
            <a:r>
              <a:rPr lang="es-ES" sz="2000" b="1" dirty="0" err="1"/>
              <a:t>vOTUS</a:t>
            </a:r>
            <a:r>
              <a:rPr lang="es-ES" sz="2000" b="1" dirty="0"/>
              <a:t>)</a:t>
            </a:r>
          </a:p>
        </p:txBody>
      </p:sp>
      <p:sp>
        <p:nvSpPr>
          <p:cNvPr id="138" name="Rounded Rectangle 11">
            <a:extLst>
              <a:ext uri="{FF2B5EF4-FFF2-40B4-BE49-F238E27FC236}">
                <a16:creationId xmlns:a16="http://schemas.microsoft.com/office/drawing/2014/main" id="{4574B0C7-F596-B70E-F4C1-9A6CCB7F50B7}"/>
              </a:ext>
            </a:extLst>
          </p:cNvPr>
          <p:cNvSpPr/>
          <p:nvPr/>
        </p:nvSpPr>
        <p:spPr>
          <a:xfrm>
            <a:off x="3345667" y="11470408"/>
            <a:ext cx="2473316" cy="17502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15495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≥1 kb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4310 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(≥5 kb)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1973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(≥10 kb)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&gt;=100 kb removed: </a:t>
            </a:r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51</a:t>
            </a:r>
          </a:p>
        </p:txBody>
      </p:sp>
      <p:sp>
        <p:nvSpPr>
          <p:cNvPr id="139" name="Rounded Rectangle 11">
            <a:extLst>
              <a:ext uri="{FF2B5EF4-FFF2-40B4-BE49-F238E27FC236}">
                <a16:creationId xmlns:a16="http://schemas.microsoft.com/office/drawing/2014/main" id="{CEA40D73-E137-0AEF-DCD8-4B3D83C60303}"/>
              </a:ext>
            </a:extLst>
          </p:cNvPr>
          <p:cNvSpPr/>
          <p:nvPr/>
        </p:nvSpPr>
        <p:spPr>
          <a:xfrm>
            <a:off x="1091812" y="9106776"/>
            <a:ext cx="1990411" cy="35888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3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Curation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to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vOTUs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≥100 kb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Remove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putative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genomic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islands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/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mobile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elements</a:t>
            </a:r>
            <a:endParaRPr lang="es-ES"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Exclude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contigs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transposons</a:t>
            </a:r>
            <a:endParaRPr lang="es-ES"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LPS genes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integrases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endonucleases</a:t>
            </a:r>
            <a:endParaRPr lang="es-ES"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plasmid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stability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genes</a:t>
            </a:r>
            <a:endParaRPr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C33B37A3-AFDB-5E67-1DBA-C094889C16A6}"/>
              </a:ext>
            </a:extLst>
          </p:cNvPr>
          <p:cNvCxnSpPr>
            <a:cxnSpLocks/>
            <a:stCxn id="12" idx="1"/>
            <a:endCxn id="139" idx="3"/>
          </p:cNvCxnSpPr>
          <p:nvPr/>
        </p:nvCxnSpPr>
        <p:spPr>
          <a:xfrm flipH="1">
            <a:off x="3082223" y="10804029"/>
            <a:ext cx="257567" cy="97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1E12B703-2B72-4E0E-6C6F-EBEDDA6EA928}"/>
              </a:ext>
            </a:extLst>
          </p:cNvPr>
          <p:cNvCxnSpPr>
            <a:cxnSpLocks/>
            <a:stCxn id="139" idx="3"/>
            <a:endCxn id="138" idx="1"/>
          </p:cNvCxnSpPr>
          <p:nvPr/>
        </p:nvCxnSpPr>
        <p:spPr>
          <a:xfrm>
            <a:off x="3082223" y="10901193"/>
            <a:ext cx="263444" cy="1444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Conector recto de flecha 159">
            <a:extLst>
              <a:ext uri="{FF2B5EF4-FFF2-40B4-BE49-F238E27FC236}">
                <a16:creationId xmlns:a16="http://schemas.microsoft.com/office/drawing/2014/main" id="{3848B8B7-5761-9676-12C4-F6E8133B5296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4619950" y="8752550"/>
            <a:ext cx="0" cy="149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9BB80067-452E-62C5-7375-D6D36857CC5A}"/>
              </a:ext>
            </a:extLst>
          </p:cNvPr>
          <p:cNvSpPr txBox="1"/>
          <p:nvPr/>
        </p:nvSpPr>
        <p:spPr>
          <a:xfrm rot="16200000">
            <a:off x="13560028" y="2508191"/>
            <a:ext cx="4866259" cy="64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MAGs</a:t>
            </a:r>
            <a:r>
              <a:rPr lang="es-ES" sz="2000" b="1" dirty="0"/>
              <a:t> </a:t>
            </a:r>
            <a:r>
              <a:rPr lang="es-ES" sz="2000" b="1" dirty="0" err="1"/>
              <a:t>generation</a:t>
            </a:r>
            <a:endParaRPr lang="es-ES" sz="2000" b="1" dirty="0"/>
          </a:p>
        </p:txBody>
      </p:sp>
      <p:cxnSp>
        <p:nvCxnSpPr>
          <p:cNvPr id="169" name="Conector recto de flecha 168">
            <a:extLst>
              <a:ext uri="{FF2B5EF4-FFF2-40B4-BE49-F238E27FC236}">
                <a16:creationId xmlns:a16="http://schemas.microsoft.com/office/drawing/2014/main" id="{015BE50C-A934-718E-2FF0-F664E94C2C19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6127730" y="962557"/>
            <a:ext cx="2580065" cy="2345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Rounded Rectangle 13">
            <a:extLst>
              <a:ext uri="{FF2B5EF4-FFF2-40B4-BE49-F238E27FC236}">
                <a16:creationId xmlns:a16="http://schemas.microsoft.com/office/drawing/2014/main" id="{F1803045-C549-6A03-9867-6A0650AA14B3}"/>
              </a:ext>
            </a:extLst>
          </p:cNvPr>
          <p:cNvSpPr/>
          <p:nvPr/>
        </p:nvSpPr>
        <p:spPr>
          <a:xfrm>
            <a:off x="8677529" y="4060364"/>
            <a:ext cx="3199694" cy="13915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Binning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refinement</a:t>
            </a:r>
            <a:endParaRPr lang="es-ES"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MetaWRAP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-c 50 -x 10</a:t>
            </a:r>
          </a:p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Dereplication</a:t>
            </a:r>
            <a:r>
              <a:rPr lang="es-ES" sz="16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dRep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7" name="Rounded Rectangle 20">
            <a:extLst>
              <a:ext uri="{FF2B5EF4-FFF2-40B4-BE49-F238E27FC236}">
                <a16:creationId xmlns:a16="http://schemas.microsoft.com/office/drawing/2014/main" id="{6224B373-21B6-B113-C6E3-E9E11C6E9D83}"/>
              </a:ext>
            </a:extLst>
          </p:cNvPr>
          <p:cNvSpPr/>
          <p:nvPr/>
        </p:nvSpPr>
        <p:spPr>
          <a:xfrm>
            <a:off x="12821875" y="4341901"/>
            <a:ext cx="2015052" cy="86646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Taxonomy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GTDBtk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80" name="Conector recto de flecha 179">
            <a:extLst>
              <a:ext uri="{FF2B5EF4-FFF2-40B4-BE49-F238E27FC236}">
                <a16:creationId xmlns:a16="http://schemas.microsoft.com/office/drawing/2014/main" id="{E93A531C-4CD1-A3B5-C093-2935E6FB707C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277376" y="1532602"/>
            <a:ext cx="4764" cy="305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Conector recto de flecha 182">
            <a:extLst>
              <a:ext uri="{FF2B5EF4-FFF2-40B4-BE49-F238E27FC236}">
                <a16:creationId xmlns:a16="http://schemas.microsoft.com/office/drawing/2014/main" id="{57BC5D79-5449-0FBE-B613-B012DA3A00A9}"/>
              </a:ext>
            </a:extLst>
          </p:cNvPr>
          <p:cNvCxnSpPr>
            <a:cxnSpLocks/>
            <a:stCxn id="14" idx="2"/>
            <a:endCxn id="176" idx="0"/>
          </p:cNvCxnSpPr>
          <p:nvPr/>
        </p:nvCxnSpPr>
        <p:spPr>
          <a:xfrm flipH="1">
            <a:off x="10277379" y="3832831"/>
            <a:ext cx="1" cy="2275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Rounded Rectangle 20">
            <a:extLst>
              <a:ext uri="{FF2B5EF4-FFF2-40B4-BE49-F238E27FC236}">
                <a16:creationId xmlns:a16="http://schemas.microsoft.com/office/drawing/2014/main" id="{A1E83822-BB0B-1740-58A4-8B3AC7397E19}"/>
              </a:ext>
            </a:extLst>
          </p:cNvPr>
          <p:cNvSpPr/>
          <p:nvPr/>
        </p:nvSpPr>
        <p:spPr>
          <a:xfrm>
            <a:off x="12123016" y="392507"/>
            <a:ext cx="3396423" cy="26457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Final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refinements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(i) QS =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completeness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− (5 ×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contamination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Remove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QS &lt; 50</a:t>
            </a:r>
          </a:p>
          <a:p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High-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quality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Completeness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≥90%</a:t>
            </a: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Contamination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≤5%</a:t>
            </a:r>
          </a:p>
          <a:p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iii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Medium-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quality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Completeness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&gt;50%</a:t>
            </a: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Contamination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≤10%</a:t>
            </a:r>
            <a:endParaRPr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CB0780B8-554E-1EBF-7B9A-8DD4D2312C31}"/>
              </a:ext>
            </a:extLst>
          </p:cNvPr>
          <p:cNvCxnSpPr>
            <a:cxnSpLocks/>
            <a:stCxn id="176" idx="3"/>
            <a:endCxn id="185" idx="1"/>
          </p:cNvCxnSpPr>
          <p:nvPr/>
        </p:nvCxnSpPr>
        <p:spPr>
          <a:xfrm flipV="1">
            <a:off x="11877222" y="1715361"/>
            <a:ext cx="245790" cy="3040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Conector recto de flecha 189">
            <a:extLst>
              <a:ext uri="{FF2B5EF4-FFF2-40B4-BE49-F238E27FC236}">
                <a16:creationId xmlns:a16="http://schemas.microsoft.com/office/drawing/2014/main" id="{42D57AC8-997B-4B14-44F0-2AE754A4B01F}"/>
              </a:ext>
            </a:extLst>
          </p:cNvPr>
          <p:cNvCxnSpPr>
            <a:cxnSpLocks/>
            <a:stCxn id="185" idx="2"/>
            <a:endCxn id="21" idx="0"/>
          </p:cNvCxnSpPr>
          <p:nvPr/>
        </p:nvCxnSpPr>
        <p:spPr>
          <a:xfrm>
            <a:off x="13821228" y="3038211"/>
            <a:ext cx="8177" cy="2186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Conector recto de flecha 193">
            <a:extLst>
              <a:ext uri="{FF2B5EF4-FFF2-40B4-BE49-F238E27FC236}">
                <a16:creationId xmlns:a16="http://schemas.microsoft.com/office/drawing/2014/main" id="{B4DF73D4-DFD6-22C5-99E4-EA3AF1B893BA}"/>
              </a:ext>
            </a:extLst>
          </p:cNvPr>
          <p:cNvCxnSpPr>
            <a:cxnSpLocks/>
            <a:stCxn id="21" idx="2"/>
            <a:endCxn id="177" idx="0"/>
          </p:cNvCxnSpPr>
          <p:nvPr/>
        </p:nvCxnSpPr>
        <p:spPr>
          <a:xfrm>
            <a:off x="13829401" y="4123290"/>
            <a:ext cx="0" cy="2186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5" name="CuadroTexto 244">
            <a:extLst>
              <a:ext uri="{FF2B5EF4-FFF2-40B4-BE49-F238E27FC236}">
                <a16:creationId xmlns:a16="http://schemas.microsoft.com/office/drawing/2014/main" id="{FA984B4A-FF8C-199E-D364-2A1CFAA675D3}"/>
              </a:ext>
            </a:extLst>
          </p:cNvPr>
          <p:cNvSpPr txBox="1"/>
          <p:nvPr/>
        </p:nvSpPr>
        <p:spPr>
          <a:xfrm rot="16200000">
            <a:off x="14780364" y="6397643"/>
            <a:ext cx="2471147" cy="648000"/>
          </a:xfrm>
          <a:prstGeom prst="rect">
            <a:avLst/>
          </a:prstGeom>
          <a:solidFill>
            <a:srgbClr val="FDB8FA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Ecological</a:t>
            </a:r>
            <a:r>
              <a:rPr lang="es-ES" sz="2000" b="1" dirty="0"/>
              <a:t> </a:t>
            </a:r>
            <a:r>
              <a:rPr lang="es-ES" sz="2000" b="1" dirty="0" err="1"/>
              <a:t>analysis</a:t>
            </a:r>
            <a:endParaRPr lang="es-ES" sz="2000" b="1" dirty="0"/>
          </a:p>
        </p:txBody>
      </p:sp>
      <p:sp>
        <p:nvSpPr>
          <p:cNvPr id="248" name="Rounded Rectangle 16">
            <a:extLst>
              <a:ext uri="{FF2B5EF4-FFF2-40B4-BE49-F238E27FC236}">
                <a16:creationId xmlns:a16="http://schemas.microsoft.com/office/drawing/2014/main" id="{83C790F0-05CA-81F2-66E6-2A41CE3A65EC}"/>
              </a:ext>
            </a:extLst>
          </p:cNvPr>
          <p:cNvSpPr/>
          <p:nvPr/>
        </p:nvSpPr>
        <p:spPr>
          <a:xfrm>
            <a:off x="12304160" y="5636566"/>
            <a:ext cx="2816352" cy="768096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table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9" name="Rounded Rectangle 23">
            <a:extLst>
              <a:ext uri="{FF2B5EF4-FFF2-40B4-BE49-F238E27FC236}">
                <a16:creationId xmlns:a16="http://schemas.microsoft.com/office/drawing/2014/main" id="{137EAE52-1E93-7815-DF13-07F33262EDB7}"/>
              </a:ext>
            </a:extLst>
          </p:cNvPr>
          <p:cNvSpPr/>
          <p:nvPr/>
        </p:nvSpPr>
        <p:spPr>
          <a:xfrm>
            <a:off x="10806799" y="6996965"/>
            <a:ext cx="2336906" cy="952205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Shared,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unique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core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common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 rare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assesment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50" name="Rounded Rectangle 23">
            <a:extLst>
              <a:ext uri="{FF2B5EF4-FFF2-40B4-BE49-F238E27FC236}">
                <a16:creationId xmlns:a16="http://schemas.microsoft.com/office/drawing/2014/main" id="{DADC5E12-3375-4F6B-6389-4241E317C108}"/>
              </a:ext>
            </a:extLst>
          </p:cNvPr>
          <p:cNvSpPr/>
          <p:nvPr/>
        </p:nvSpPr>
        <p:spPr>
          <a:xfrm>
            <a:off x="13360104" y="6989924"/>
            <a:ext cx="2112215" cy="992245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Microdiversity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analysis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252" name="Conector recto de flecha 251">
            <a:extLst>
              <a:ext uri="{FF2B5EF4-FFF2-40B4-BE49-F238E27FC236}">
                <a16:creationId xmlns:a16="http://schemas.microsoft.com/office/drawing/2014/main" id="{F3CA8F71-A54B-BD94-ACB0-58A0573EEEF2}"/>
              </a:ext>
            </a:extLst>
          </p:cNvPr>
          <p:cNvCxnSpPr>
            <a:cxnSpLocks/>
            <a:stCxn id="138" idx="3"/>
            <a:endCxn id="17" idx="1"/>
          </p:cNvCxnSpPr>
          <p:nvPr/>
        </p:nvCxnSpPr>
        <p:spPr>
          <a:xfrm flipV="1">
            <a:off x="5818983" y="6125800"/>
            <a:ext cx="2684215" cy="62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5" name="Conector recto de flecha 254">
            <a:extLst>
              <a:ext uri="{FF2B5EF4-FFF2-40B4-BE49-F238E27FC236}">
                <a16:creationId xmlns:a16="http://schemas.microsoft.com/office/drawing/2014/main" id="{E5692B85-692B-B62F-B4E1-445FEBB76D3A}"/>
              </a:ext>
            </a:extLst>
          </p:cNvPr>
          <p:cNvCxnSpPr>
            <a:cxnSpLocks/>
            <a:stCxn id="17" idx="3"/>
            <a:endCxn id="248" idx="1"/>
          </p:cNvCxnSpPr>
          <p:nvPr/>
        </p:nvCxnSpPr>
        <p:spPr>
          <a:xfrm flipV="1">
            <a:off x="11319550" y="6020614"/>
            <a:ext cx="984610" cy="105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8" name="Conector recto de flecha 257">
            <a:extLst>
              <a:ext uri="{FF2B5EF4-FFF2-40B4-BE49-F238E27FC236}">
                <a16:creationId xmlns:a16="http://schemas.microsoft.com/office/drawing/2014/main" id="{0683A954-F97D-CFEC-B0B5-B0E981072EAC}"/>
              </a:ext>
            </a:extLst>
          </p:cNvPr>
          <p:cNvCxnSpPr>
            <a:cxnSpLocks/>
            <a:stCxn id="248" idx="2"/>
            <a:endCxn id="24" idx="0"/>
          </p:cNvCxnSpPr>
          <p:nvPr/>
        </p:nvCxnSpPr>
        <p:spPr>
          <a:xfrm flipH="1">
            <a:off x="9516001" y="6404662"/>
            <a:ext cx="4196335" cy="5852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1" name="Conector recto de flecha 260">
            <a:extLst>
              <a:ext uri="{FF2B5EF4-FFF2-40B4-BE49-F238E27FC236}">
                <a16:creationId xmlns:a16="http://schemas.microsoft.com/office/drawing/2014/main" id="{60C2203B-E9EC-253A-C1E2-E689E066E78B}"/>
              </a:ext>
            </a:extLst>
          </p:cNvPr>
          <p:cNvCxnSpPr>
            <a:cxnSpLocks/>
            <a:stCxn id="248" idx="2"/>
            <a:endCxn id="249" idx="0"/>
          </p:cNvCxnSpPr>
          <p:nvPr/>
        </p:nvCxnSpPr>
        <p:spPr>
          <a:xfrm flipH="1">
            <a:off x="11975252" y="6404662"/>
            <a:ext cx="1737084" cy="5923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Conector recto de flecha 263">
            <a:extLst>
              <a:ext uri="{FF2B5EF4-FFF2-40B4-BE49-F238E27FC236}">
                <a16:creationId xmlns:a16="http://schemas.microsoft.com/office/drawing/2014/main" id="{8393A862-F6A7-D431-6B55-CB6F839231EF}"/>
              </a:ext>
            </a:extLst>
          </p:cNvPr>
          <p:cNvCxnSpPr>
            <a:cxnSpLocks/>
            <a:stCxn id="248" idx="2"/>
            <a:endCxn id="250" idx="0"/>
          </p:cNvCxnSpPr>
          <p:nvPr/>
        </p:nvCxnSpPr>
        <p:spPr>
          <a:xfrm>
            <a:off x="13712336" y="6404662"/>
            <a:ext cx="703876" cy="5852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7" name="Rounded Rectangle 16">
            <a:extLst>
              <a:ext uri="{FF2B5EF4-FFF2-40B4-BE49-F238E27FC236}">
                <a16:creationId xmlns:a16="http://schemas.microsoft.com/office/drawing/2014/main" id="{011442FB-8523-A201-270E-027885A50A0C}"/>
              </a:ext>
            </a:extLst>
          </p:cNvPr>
          <p:cNvSpPr/>
          <p:nvPr/>
        </p:nvSpPr>
        <p:spPr>
          <a:xfrm>
            <a:off x="10761873" y="8291907"/>
            <a:ext cx="2816352" cy="9522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Taxonomy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400050" indent="-400050" algn="ctr">
              <a:buAutoNum type="romanLcParenBoth"/>
            </a:pP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vConTACT3 default</a:t>
            </a:r>
          </a:p>
          <a:p>
            <a:pPr marL="400050" indent="-400050" algn="ctr">
              <a:buAutoNum type="romanLcParenBoth"/>
            </a:pP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geNomad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9A6D2E08-F3FF-5662-BF45-38563009D342}"/>
              </a:ext>
            </a:extLst>
          </p:cNvPr>
          <p:cNvSpPr txBox="1"/>
          <p:nvPr/>
        </p:nvSpPr>
        <p:spPr>
          <a:xfrm rot="16200000">
            <a:off x="15353430" y="8462700"/>
            <a:ext cx="1259550" cy="64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Taxonomy</a:t>
            </a:r>
            <a:endParaRPr lang="es-ES" sz="2000" b="1" dirty="0"/>
          </a:p>
        </p:txBody>
      </p:sp>
      <p:cxnSp>
        <p:nvCxnSpPr>
          <p:cNvPr id="280" name="Conector recto de flecha 279">
            <a:extLst>
              <a:ext uri="{FF2B5EF4-FFF2-40B4-BE49-F238E27FC236}">
                <a16:creationId xmlns:a16="http://schemas.microsoft.com/office/drawing/2014/main" id="{AB364C98-DE97-38C1-745B-7851803F2A43}"/>
              </a:ext>
            </a:extLst>
          </p:cNvPr>
          <p:cNvCxnSpPr>
            <a:cxnSpLocks/>
            <a:stCxn id="138" idx="3"/>
            <a:endCxn id="277" idx="1"/>
          </p:cNvCxnSpPr>
          <p:nvPr/>
        </p:nvCxnSpPr>
        <p:spPr>
          <a:xfrm flipV="1">
            <a:off x="5818983" y="8768010"/>
            <a:ext cx="4942890" cy="35775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2" name="Rounded Rectangle 16">
            <a:extLst>
              <a:ext uri="{FF2B5EF4-FFF2-40B4-BE49-F238E27FC236}">
                <a16:creationId xmlns:a16="http://schemas.microsoft.com/office/drawing/2014/main" id="{E87B843D-E57C-75FD-9925-4E19F10F57E7}"/>
              </a:ext>
            </a:extLst>
          </p:cNvPr>
          <p:cNvSpPr/>
          <p:nvPr/>
        </p:nvSpPr>
        <p:spPr>
          <a:xfrm>
            <a:off x="10714836" y="9553849"/>
            <a:ext cx="2816352" cy="233247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Host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prediction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(i)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iPHoP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default DB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local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CRISPR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spacer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matching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MinCED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BLASTn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F2B5E711-5548-9E35-5083-F03BC528A398}"/>
              </a:ext>
            </a:extLst>
          </p:cNvPr>
          <p:cNvSpPr txBox="1"/>
          <p:nvPr/>
        </p:nvSpPr>
        <p:spPr>
          <a:xfrm rot="16200000">
            <a:off x="15000739" y="10431357"/>
            <a:ext cx="1956009" cy="64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/>
              <a:t>Host</a:t>
            </a:r>
          </a:p>
        </p:txBody>
      </p:sp>
      <p:cxnSp>
        <p:nvCxnSpPr>
          <p:cNvPr id="285" name="Conector recto de flecha 284">
            <a:extLst>
              <a:ext uri="{FF2B5EF4-FFF2-40B4-BE49-F238E27FC236}">
                <a16:creationId xmlns:a16="http://schemas.microsoft.com/office/drawing/2014/main" id="{AF4CA577-85A5-92EC-37C2-7D045FC0010C}"/>
              </a:ext>
            </a:extLst>
          </p:cNvPr>
          <p:cNvCxnSpPr>
            <a:cxnSpLocks/>
            <a:stCxn id="138" idx="3"/>
            <a:endCxn id="282" idx="1"/>
          </p:cNvCxnSpPr>
          <p:nvPr/>
        </p:nvCxnSpPr>
        <p:spPr>
          <a:xfrm flipV="1">
            <a:off x="5818983" y="10720086"/>
            <a:ext cx="4895853" cy="16254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7" name="Rounded Rectangle 16">
            <a:extLst>
              <a:ext uri="{FF2B5EF4-FFF2-40B4-BE49-F238E27FC236}">
                <a16:creationId xmlns:a16="http://schemas.microsoft.com/office/drawing/2014/main" id="{F524C094-51D1-3AD6-F7D6-B32F2D950B48}"/>
              </a:ext>
            </a:extLst>
          </p:cNvPr>
          <p:cNvSpPr/>
          <p:nvPr/>
        </p:nvSpPr>
        <p:spPr>
          <a:xfrm>
            <a:off x="10670794" y="12267976"/>
            <a:ext cx="2816352" cy="1122113"/>
          </a:xfrm>
          <a:prstGeom prst="roundRect">
            <a:avLst/>
          </a:prstGeom>
          <a:solidFill>
            <a:srgbClr val="E0D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AMG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prediction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-DRAMv &amp; DRAM (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-KEGG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mapper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4D7B9F86-4902-C6EA-D7C1-7DA45B7E510F}"/>
              </a:ext>
            </a:extLst>
          </p:cNvPr>
          <p:cNvSpPr txBox="1"/>
          <p:nvPr/>
        </p:nvSpPr>
        <p:spPr>
          <a:xfrm rot="16200000">
            <a:off x="15190202" y="12558782"/>
            <a:ext cx="1577083" cy="648000"/>
          </a:xfrm>
          <a:prstGeom prst="rect">
            <a:avLst/>
          </a:prstGeom>
          <a:solidFill>
            <a:srgbClr val="E0D136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Functionality</a:t>
            </a:r>
            <a:endParaRPr lang="es-ES" sz="2000" b="1" dirty="0"/>
          </a:p>
        </p:txBody>
      </p:sp>
      <p:cxnSp>
        <p:nvCxnSpPr>
          <p:cNvPr id="291" name="Conector recto de flecha 290">
            <a:extLst>
              <a:ext uri="{FF2B5EF4-FFF2-40B4-BE49-F238E27FC236}">
                <a16:creationId xmlns:a16="http://schemas.microsoft.com/office/drawing/2014/main" id="{C11D2A30-0122-2149-F099-F91F82A85C6D}"/>
              </a:ext>
            </a:extLst>
          </p:cNvPr>
          <p:cNvCxnSpPr>
            <a:cxnSpLocks/>
            <a:stCxn id="138" idx="3"/>
            <a:endCxn id="287" idx="1"/>
          </p:cNvCxnSpPr>
          <p:nvPr/>
        </p:nvCxnSpPr>
        <p:spPr>
          <a:xfrm>
            <a:off x="5818983" y="12345555"/>
            <a:ext cx="4851811" cy="4834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0" name="Conector recto de flecha 319">
            <a:extLst>
              <a:ext uri="{FF2B5EF4-FFF2-40B4-BE49-F238E27FC236}">
                <a16:creationId xmlns:a16="http://schemas.microsoft.com/office/drawing/2014/main" id="{261F1068-6C78-9B7C-E59B-2B15C844F818}"/>
              </a:ext>
            </a:extLst>
          </p:cNvPr>
          <p:cNvCxnSpPr>
            <a:cxnSpLocks/>
            <a:stCxn id="138" idx="2"/>
            <a:endCxn id="321" idx="0"/>
          </p:cNvCxnSpPr>
          <p:nvPr/>
        </p:nvCxnSpPr>
        <p:spPr>
          <a:xfrm flipH="1">
            <a:off x="2515820" y="13220701"/>
            <a:ext cx="2066505" cy="86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1" name="Rounded Rectangle 11">
            <a:extLst>
              <a:ext uri="{FF2B5EF4-FFF2-40B4-BE49-F238E27FC236}">
                <a16:creationId xmlns:a16="http://schemas.microsoft.com/office/drawing/2014/main" id="{3C9309BC-F0CE-230C-63B8-1A6FDFF634AE}"/>
              </a:ext>
            </a:extLst>
          </p:cNvPr>
          <p:cNvSpPr/>
          <p:nvPr/>
        </p:nvSpPr>
        <p:spPr>
          <a:xfrm>
            <a:off x="1111563" y="13306792"/>
            <a:ext cx="2808514" cy="9081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 err="1">
                <a:solidFill>
                  <a:schemeClr val="tx1"/>
                </a:solidFill>
              </a:rPr>
              <a:t>Quality</a:t>
            </a:r>
            <a:r>
              <a:rPr lang="es-ES" sz="1800" b="1" dirty="0">
                <a:solidFill>
                  <a:schemeClr val="tx1"/>
                </a:solidFill>
              </a:rPr>
              <a:t> &amp; </a:t>
            </a:r>
            <a:r>
              <a:rPr lang="es-ES" sz="1800" b="1" dirty="0" err="1">
                <a:solidFill>
                  <a:schemeClr val="tx1"/>
                </a:solidFill>
              </a:rPr>
              <a:t>completeness</a:t>
            </a:r>
            <a:endParaRPr lang="es-ES" sz="1800" b="1" dirty="0">
              <a:solidFill>
                <a:schemeClr val="tx1"/>
              </a:solidFill>
            </a:endParaRPr>
          </a:p>
          <a:p>
            <a:pPr algn="ctr"/>
            <a:r>
              <a:rPr lang="es-ES" sz="1800" b="1" dirty="0" err="1">
                <a:solidFill>
                  <a:schemeClr val="tx1"/>
                </a:solidFill>
              </a:rPr>
              <a:t>assessment</a:t>
            </a:r>
            <a:endParaRPr lang="es-ES" sz="1800" b="1" dirty="0">
              <a:solidFill>
                <a:schemeClr val="tx1"/>
              </a:solidFill>
            </a:endParaRPr>
          </a:p>
          <a:p>
            <a:pPr algn="ctr"/>
            <a:r>
              <a:rPr lang="es-ES" sz="1800" dirty="0" err="1">
                <a:solidFill>
                  <a:schemeClr val="tx1"/>
                </a:solidFill>
              </a:rPr>
              <a:t>Check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34" name="Rounded Rectangle 11">
            <a:extLst>
              <a:ext uri="{FF2B5EF4-FFF2-40B4-BE49-F238E27FC236}">
                <a16:creationId xmlns:a16="http://schemas.microsoft.com/office/drawing/2014/main" id="{DB823F5A-3E97-27FB-B34F-0AA005A944C8}"/>
              </a:ext>
            </a:extLst>
          </p:cNvPr>
          <p:cNvSpPr/>
          <p:nvPr/>
        </p:nvSpPr>
        <p:spPr>
          <a:xfrm>
            <a:off x="5867392" y="13217232"/>
            <a:ext cx="2945555" cy="9081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 err="1">
                <a:solidFill>
                  <a:schemeClr val="tx1"/>
                </a:solidFill>
              </a:rPr>
              <a:t>Lifestyle</a:t>
            </a:r>
            <a:r>
              <a:rPr lang="es-ES" sz="1800" b="1" dirty="0">
                <a:solidFill>
                  <a:schemeClr val="tx1"/>
                </a:solidFill>
              </a:rPr>
              <a:t> </a:t>
            </a:r>
            <a:r>
              <a:rPr lang="es-ES" sz="1800" b="1" dirty="0" err="1">
                <a:solidFill>
                  <a:schemeClr val="tx1"/>
                </a:solidFill>
              </a:rPr>
              <a:t>prediction</a:t>
            </a:r>
            <a:endParaRPr lang="es-ES" sz="1800" b="1" dirty="0">
              <a:solidFill>
                <a:schemeClr val="tx1"/>
              </a:solidFill>
            </a:endParaRPr>
          </a:p>
          <a:p>
            <a:pPr algn="ctr"/>
            <a:r>
              <a:rPr lang="es-ES" sz="1800" b="1" dirty="0">
                <a:solidFill>
                  <a:schemeClr val="tx1"/>
                </a:solidFill>
              </a:rPr>
              <a:t>(</a:t>
            </a:r>
            <a:r>
              <a:rPr lang="es-ES" sz="1800" b="1" dirty="0" err="1">
                <a:solidFill>
                  <a:schemeClr val="tx1"/>
                </a:solidFill>
              </a:rPr>
              <a:t>lytic</a:t>
            </a:r>
            <a:r>
              <a:rPr lang="es-ES" sz="1800" b="1" dirty="0">
                <a:solidFill>
                  <a:schemeClr val="tx1"/>
                </a:solidFill>
              </a:rPr>
              <a:t> vs </a:t>
            </a:r>
            <a:r>
              <a:rPr lang="es-ES" sz="1800" b="1" dirty="0" err="1">
                <a:solidFill>
                  <a:schemeClr val="tx1"/>
                </a:solidFill>
              </a:rPr>
              <a:t>temperate</a:t>
            </a:r>
            <a:r>
              <a:rPr lang="es-ES" sz="180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</a:rPr>
              <a:t>VIBRANT</a:t>
            </a:r>
          </a:p>
        </p:txBody>
      </p:sp>
      <p:cxnSp>
        <p:nvCxnSpPr>
          <p:cNvPr id="336" name="Conector recto de flecha 335">
            <a:extLst>
              <a:ext uri="{FF2B5EF4-FFF2-40B4-BE49-F238E27FC236}">
                <a16:creationId xmlns:a16="http://schemas.microsoft.com/office/drawing/2014/main" id="{E7F57869-81D9-F7FC-4E51-525840A059E7}"/>
              </a:ext>
            </a:extLst>
          </p:cNvPr>
          <p:cNvCxnSpPr>
            <a:cxnSpLocks/>
            <a:stCxn id="138" idx="2"/>
            <a:endCxn id="334" idx="1"/>
          </p:cNvCxnSpPr>
          <p:nvPr/>
        </p:nvCxnSpPr>
        <p:spPr>
          <a:xfrm>
            <a:off x="4582325" y="13220701"/>
            <a:ext cx="1285067" cy="450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3067</TotalTime>
  <Words>762</Words>
  <Application>Microsoft Macintosh PowerPoint</Application>
  <PresentationFormat>Personalizado</PresentationFormat>
  <Paragraphs>206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Microsoft Sans Serif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CASTELLANO HINOJOSA</cp:lastModifiedBy>
  <cp:revision>26</cp:revision>
  <dcterms:created xsi:type="dcterms:W3CDTF">2013-01-27T09:14:16Z</dcterms:created>
  <dcterms:modified xsi:type="dcterms:W3CDTF">2026-05-15T16:09:23Z</dcterms:modified>
  <cp:category/>
</cp:coreProperties>
</file>