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16402050" cy="14281150"/>
  <p:notesSz cx="6858000" cy="9144000"/>
  <p:defaultTextStyle>
    <a:defPPr>
      <a:defRPr lang="en-US"/>
    </a:defPPr>
    <a:lvl1pPr marL="0" algn="l" defTabSz="640080" rtl="0" eaLnBrk="1" latinLnBrk="0" hangingPunct="1">
      <a:defRPr sz="2520" kern="1200">
        <a:solidFill>
          <a:schemeClr val="tx1"/>
        </a:solidFill>
        <a:latin typeface="+mn-lt"/>
        <a:ea typeface="+mn-ea"/>
        <a:cs typeface="+mn-cs"/>
      </a:defRPr>
    </a:lvl1pPr>
    <a:lvl2pPr marL="640080" algn="l" defTabSz="640080" rtl="0" eaLnBrk="1" latinLnBrk="0" hangingPunct="1">
      <a:defRPr sz="2520" kern="1200">
        <a:solidFill>
          <a:schemeClr val="tx1"/>
        </a:solidFill>
        <a:latin typeface="+mn-lt"/>
        <a:ea typeface="+mn-ea"/>
        <a:cs typeface="+mn-cs"/>
      </a:defRPr>
    </a:lvl2pPr>
    <a:lvl3pPr marL="1280160" algn="l" defTabSz="640080" rtl="0" eaLnBrk="1" latinLnBrk="0" hangingPunct="1">
      <a:defRPr sz="2520" kern="1200">
        <a:solidFill>
          <a:schemeClr val="tx1"/>
        </a:solidFill>
        <a:latin typeface="+mn-lt"/>
        <a:ea typeface="+mn-ea"/>
        <a:cs typeface="+mn-cs"/>
      </a:defRPr>
    </a:lvl3pPr>
    <a:lvl4pPr marL="1920240" algn="l" defTabSz="640080" rtl="0" eaLnBrk="1" latinLnBrk="0" hangingPunct="1">
      <a:defRPr sz="2520" kern="1200">
        <a:solidFill>
          <a:schemeClr val="tx1"/>
        </a:solidFill>
        <a:latin typeface="+mn-lt"/>
        <a:ea typeface="+mn-ea"/>
        <a:cs typeface="+mn-cs"/>
      </a:defRPr>
    </a:lvl4pPr>
    <a:lvl5pPr marL="2560320" algn="l" defTabSz="640080" rtl="0" eaLnBrk="1" latinLnBrk="0" hangingPunct="1">
      <a:defRPr sz="2520" kern="1200">
        <a:solidFill>
          <a:schemeClr val="tx1"/>
        </a:solidFill>
        <a:latin typeface="+mn-lt"/>
        <a:ea typeface="+mn-ea"/>
        <a:cs typeface="+mn-cs"/>
      </a:defRPr>
    </a:lvl5pPr>
    <a:lvl6pPr marL="3200400" algn="l" defTabSz="640080" rtl="0" eaLnBrk="1" latinLnBrk="0" hangingPunct="1">
      <a:defRPr sz="2520" kern="1200">
        <a:solidFill>
          <a:schemeClr val="tx1"/>
        </a:solidFill>
        <a:latin typeface="+mn-lt"/>
        <a:ea typeface="+mn-ea"/>
        <a:cs typeface="+mn-cs"/>
      </a:defRPr>
    </a:lvl6pPr>
    <a:lvl7pPr marL="3840480" algn="l" defTabSz="640080" rtl="0" eaLnBrk="1" latinLnBrk="0" hangingPunct="1">
      <a:defRPr sz="2520" kern="1200">
        <a:solidFill>
          <a:schemeClr val="tx1"/>
        </a:solidFill>
        <a:latin typeface="+mn-lt"/>
        <a:ea typeface="+mn-ea"/>
        <a:cs typeface="+mn-cs"/>
      </a:defRPr>
    </a:lvl7pPr>
    <a:lvl8pPr marL="4480560" algn="l" defTabSz="640080" rtl="0" eaLnBrk="1" latinLnBrk="0" hangingPunct="1">
      <a:defRPr sz="2520" kern="1200">
        <a:solidFill>
          <a:schemeClr val="tx1"/>
        </a:solidFill>
        <a:latin typeface="+mn-lt"/>
        <a:ea typeface="+mn-ea"/>
        <a:cs typeface="+mn-cs"/>
      </a:defRPr>
    </a:lvl8pPr>
    <a:lvl9pPr marL="5120640" algn="l" defTabSz="640080" rtl="0" eaLnBrk="1" latinLnBrk="0" hangingPunct="1">
      <a:defRPr sz="252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498" userDrawn="1">
          <p15:clr>
            <a:srgbClr val="A4A3A4"/>
          </p15:clr>
        </p15:guide>
        <p15:guide id="2" pos="516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AE0DD"/>
    <a:srgbClr val="8591E4"/>
    <a:srgbClr val="E0D136"/>
    <a:srgbClr val="D9DD99"/>
    <a:srgbClr val="FDB8FA"/>
    <a:srgbClr val="DFA4D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0031"/>
    <p:restoredTop sz="94658"/>
  </p:normalViewPr>
  <p:slideViewPr>
    <p:cSldViewPr snapToGrid="0" snapToObjects="1">
      <p:cViewPr varScale="1">
        <p:scale>
          <a:sx n="57" d="100"/>
          <a:sy n="57" d="100"/>
        </p:scale>
        <p:origin x="2800" y="200"/>
      </p:cViewPr>
      <p:guideLst>
        <p:guide orient="horz" pos="4498"/>
        <p:guide pos="5166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8D49358-97F7-954D-8DA9-8311F5DB6790}" type="datetimeFigureOut">
              <a:rPr lang="es-ES" smtClean="0"/>
              <a:t>11/5/26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1657350" y="1143000"/>
            <a:ext cx="35433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18CF73E-FDC9-D044-A7F9-E83A512BA627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5698926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>
          <a:xfrm>
            <a:off x="1657350" y="1143000"/>
            <a:ext cx="3543300" cy="3086100"/>
          </a:xfrm>
        </p:spPr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sz="1200" b="0" u="sng" dirty="0">
                <a:solidFill>
                  <a:schemeClr val="tx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Fig.1. </a:t>
            </a:r>
            <a:r>
              <a:rPr lang="es-ES" sz="1200" b="0" u="none" dirty="0" err="1">
                <a:solidFill>
                  <a:schemeClr val="tx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Bioinformatics</a:t>
            </a:r>
            <a:r>
              <a:rPr lang="es-ES" sz="1200" b="0" u="none" dirty="0">
                <a:solidFill>
                  <a:schemeClr val="tx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 </a:t>
            </a:r>
            <a:r>
              <a:rPr lang="es-ES" sz="1200" b="0" u="none" dirty="0" err="1">
                <a:solidFill>
                  <a:schemeClr val="tx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workflow</a:t>
            </a:r>
            <a:endParaRPr lang="es-ES" sz="1200" b="0" u="none" dirty="0">
              <a:solidFill>
                <a:schemeClr val="tx1"/>
              </a:solidFill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8CF73E-FDC9-D044-A7F9-E83A512BA627}" type="slidenum">
              <a:rPr lang="es-ES" smtClean="0"/>
              <a:t>1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5086973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30157" y="4436416"/>
            <a:ext cx="13941743" cy="306119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60312" y="8092657"/>
            <a:ext cx="11481435" cy="3649627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4009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801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92027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56036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20045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84054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48063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512072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651" y="9176965"/>
            <a:ext cx="13941743" cy="2836395"/>
          </a:xfrm>
        </p:spPr>
        <p:txBody>
          <a:bodyPr anchor="t"/>
          <a:lstStyle>
            <a:lvl1pPr algn="l">
              <a:defRPr sz="56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651" y="6052962"/>
            <a:ext cx="13941743" cy="3124001"/>
          </a:xfrm>
        </p:spPr>
        <p:txBody>
          <a:bodyPr anchor="b"/>
          <a:lstStyle>
            <a:lvl1pPr marL="0" indent="0">
              <a:buNone/>
              <a:defRPr sz="2800">
                <a:solidFill>
                  <a:schemeClr val="tx1">
                    <a:tint val="75000"/>
                  </a:schemeClr>
                </a:solidFill>
              </a:defRPr>
            </a:lvl1pPr>
            <a:lvl2pPr marL="640091" indent="0">
              <a:buNone/>
              <a:defRPr sz="2520">
                <a:solidFill>
                  <a:schemeClr val="tx1">
                    <a:tint val="75000"/>
                  </a:schemeClr>
                </a:solidFill>
              </a:defRPr>
            </a:lvl2pPr>
            <a:lvl3pPr marL="1280180" indent="0">
              <a:buNone/>
              <a:defRPr sz="2240">
                <a:solidFill>
                  <a:schemeClr val="tx1">
                    <a:tint val="75000"/>
                  </a:schemeClr>
                </a:solidFill>
              </a:defRPr>
            </a:lvl3pPr>
            <a:lvl4pPr marL="1920271" indent="0">
              <a:buNone/>
              <a:defRPr sz="1960">
                <a:solidFill>
                  <a:schemeClr val="tx1">
                    <a:tint val="75000"/>
                  </a:schemeClr>
                </a:solidFill>
              </a:defRPr>
            </a:lvl4pPr>
            <a:lvl5pPr marL="2560361" indent="0">
              <a:buNone/>
              <a:defRPr sz="1960">
                <a:solidFill>
                  <a:schemeClr val="tx1">
                    <a:tint val="75000"/>
                  </a:schemeClr>
                </a:solidFill>
              </a:defRPr>
            </a:lvl5pPr>
            <a:lvl6pPr marL="3200451" indent="0">
              <a:buNone/>
              <a:defRPr sz="1960">
                <a:solidFill>
                  <a:schemeClr val="tx1">
                    <a:tint val="75000"/>
                  </a:schemeClr>
                </a:solidFill>
              </a:defRPr>
            </a:lvl6pPr>
            <a:lvl7pPr marL="3840541" indent="0">
              <a:buNone/>
              <a:defRPr sz="1960">
                <a:solidFill>
                  <a:schemeClr val="tx1">
                    <a:tint val="75000"/>
                  </a:schemeClr>
                </a:solidFill>
              </a:defRPr>
            </a:lvl7pPr>
            <a:lvl8pPr marL="4480632" indent="0">
              <a:buNone/>
              <a:defRPr sz="1960">
                <a:solidFill>
                  <a:schemeClr val="tx1">
                    <a:tint val="75000"/>
                  </a:schemeClr>
                </a:solidFill>
              </a:defRPr>
            </a:lvl8pPr>
            <a:lvl9pPr marL="5120721" indent="0">
              <a:buNone/>
              <a:defRPr sz="196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0105" y="3332274"/>
            <a:ext cx="7244239" cy="9424899"/>
          </a:xfrm>
        </p:spPr>
        <p:txBody>
          <a:bodyPr/>
          <a:lstStyle>
            <a:lvl1pPr>
              <a:defRPr sz="3920"/>
            </a:lvl1pPr>
            <a:lvl2pPr>
              <a:defRPr sz="3360"/>
            </a:lvl2pPr>
            <a:lvl3pPr>
              <a:defRPr sz="2800"/>
            </a:lvl3pPr>
            <a:lvl4pPr>
              <a:defRPr sz="2520"/>
            </a:lvl4pPr>
            <a:lvl5pPr>
              <a:defRPr sz="2520"/>
            </a:lvl5pPr>
            <a:lvl6pPr>
              <a:defRPr sz="2520"/>
            </a:lvl6pPr>
            <a:lvl7pPr>
              <a:defRPr sz="2520"/>
            </a:lvl7pPr>
            <a:lvl8pPr>
              <a:defRPr sz="2520"/>
            </a:lvl8pPr>
            <a:lvl9pPr>
              <a:defRPr sz="252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37709" y="3332274"/>
            <a:ext cx="7244239" cy="9424899"/>
          </a:xfrm>
        </p:spPr>
        <p:txBody>
          <a:bodyPr/>
          <a:lstStyle>
            <a:lvl1pPr>
              <a:defRPr sz="3920"/>
            </a:lvl1pPr>
            <a:lvl2pPr>
              <a:defRPr sz="3360"/>
            </a:lvl2pPr>
            <a:lvl3pPr>
              <a:defRPr sz="2800"/>
            </a:lvl3pPr>
            <a:lvl4pPr>
              <a:defRPr sz="2520"/>
            </a:lvl4pPr>
            <a:lvl5pPr>
              <a:defRPr sz="2520"/>
            </a:lvl5pPr>
            <a:lvl6pPr>
              <a:defRPr sz="2520"/>
            </a:lvl6pPr>
            <a:lvl7pPr>
              <a:defRPr sz="2520"/>
            </a:lvl7pPr>
            <a:lvl8pPr>
              <a:defRPr sz="2520"/>
            </a:lvl8pPr>
            <a:lvl9pPr>
              <a:defRPr sz="252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0106" y="3196731"/>
            <a:ext cx="7247087" cy="1332245"/>
          </a:xfrm>
        </p:spPr>
        <p:txBody>
          <a:bodyPr anchor="b"/>
          <a:lstStyle>
            <a:lvl1pPr marL="0" indent="0">
              <a:buNone/>
              <a:defRPr sz="3360" b="1"/>
            </a:lvl1pPr>
            <a:lvl2pPr marL="640091" indent="0">
              <a:buNone/>
              <a:defRPr sz="2800" b="1"/>
            </a:lvl2pPr>
            <a:lvl3pPr marL="1280180" indent="0">
              <a:buNone/>
              <a:defRPr sz="2520" b="1"/>
            </a:lvl3pPr>
            <a:lvl4pPr marL="1920271" indent="0">
              <a:buNone/>
              <a:defRPr sz="2240" b="1"/>
            </a:lvl4pPr>
            <a:lvl5pPr marL="2560361" indent="0">
              <a:buNone/>
              <a:defRPr sz="2240" b="1"/>
            </a:lvl5pPr>
            <a:lvl6pPr marL="3200451" indent="0">
              <a:buNone/>
              <a:defRPr sz="2240" b="1"/>
            </a:lvl6pPr>
            <a:lvl7pPr marL="3840541" indent="0">
              <a:buNone/>
              <a:defRPr sz="2240" b="1"/>
            </a:lvl7pPr>
            <a:lvl8pPr marL="4480632" indent="0">
              <a:buNone/>
              <a:defRPr sz="2240" b="1"/>
            </a:lvl8pPr>
            <a:lvl9pPr marL="5120721" indent="0">
              <a:buNone/>
              <a:defRPr sz="224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0106" y="4528978"/>
            <a:ext cx="7247087" cy="8228191"/>
          </a:xfrm>
        </p:spPr>
        <p:txBody>
          <a:bodyPr/>
          <a:lstStyle>
            <a:lvl1pPr>
              <a:defRPr sz="3360"/>
            </a:lvl1pPr>
            <a:lvl2pPr>
              <a:defRPr sz="2800"/>
            </a:lvl2pPr>
            <a:lvl3pPr>
              <a:defRPr sz="2520"/>
            </a:lvl3pPr>
            <a:lvl4pPr>
              <a:defRPr sz="2240"/>
            </a:lvl4pPr>
            <a:lvl5pPr>
              <a:defRPr sz="2240"/>
            </a:lvl5pPr>
            <a:lvl6pPr>
              <a:defRPr sz="2240"/>
            </a:lvl6pPr>
            <a:lvl7pPr>
              <a:defRPr sz="2240"/>
            </a:lvl7pPr>
            <a:lvl8pPr>
              <a:defRPr sz="2240"/>
            </a:lvl8pPr>
            <a:lvl9pPr>
              <a:defRPr sz="224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8332015" y="3196731"/>
            <a:ext cx="7249934" cy="1332245"/>
          </a:xfrm>
        </p:spPr>
        <p:txBody>
          <a:bodyPr anchor="b"/>
          <a:lstStyle>
            <a:lvl1pPr marL="0" indent="0">
              <a:buNone/>
              <a:defRPr sz="3360" b="1"/>
            </a:lvl1pPr>
            <a:lvl2pPr marL="640091" indent="0">
              <a:buNone/>
              <a:defRPr sz="2800" b="1"/>
            </a:lvl2pPr>
            <a:lvl3pPr marL="1280180" indent="0">
              <a:buNone/>
              <a:defRPr sz="2520" b="1"/>
            </a:lvl3pPr>
            <a:lvl4pPr marL="1920271" indent="0">
              <a:buNone/>
              <a:defRPr sz="2240" b="1"/>
            </a:lvl4pPr>
            <a:lvl5pPr marL="2560361" indent="0">
              <a:buNone/>
              <a:defRPr sz="2240" b="1"/>
            </a:lvl5pPr>
            <a:lvl6pPr marL="3200451" indent="0">
              <a:buNone/>
              <a:defRPr sz="2240" b="1"/>
            </a:lvl6pPr>
            <a:lvl7pPr marL="3840541" indent="0">
              <a:buNone/>
              <a:defRPr sz="2240" b="1"/>
            </a:lvl7pPr>
            <a:lvl8pPr marL="4480632" indent="0">
              <a:buNone/>
              <a:defRPr sz="2240" b="1"/>
            </a:lvl8pPr>
            <a:lvl9pPr marL="5120721" indent="0">
              <a:buNone/>
              <a:defRPr sz="224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8332015" y="4528978"/>
            <a:ext cx="7249934" cy="8228191"/>
          </a:xfrm>
        </p:spPr>
        <p:txBody>
          <a:bodyPr/>
          <a:lstStyle>
            <a:lvl1pPr>
              <a:defRPr sz="3360"/>
            </a:lvl1pPr>
            <a:lvl2pPr>
              <a:defRPr sz="2800"/>
            </a:lvl2pPr>
            <a:lvl3pPr>
              <a:defRPr sz="2520"/>
            </a:lvl3pPr>
            <a:lvl4pPr>
              <a:defRPr sz="2240"/>
            </a:lvl4pPr>
            <a:lvl5pPr>
              <a:defRPr sz="2240"/>
            </a:lvl5pPr>
            <a:lvl6pPr>
              <a:defRPr sz="2240"/>
            </a:lvl6pPr>
            <a:lvl7pPr>
              <a:defRPr sz="2240"/>
            </a:lvl7pPr>
            <a:lvl8pPr>
              <a:defRPr sz="2240"/>
            </a:lvl8pPr>
            <a:lvl9pPr>
              <a:defRPr sz="224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0107" y="568601"/>
            <a:ext cx="5396161" cy="2419861"/>
          </a:xfrm>
        </p:spPr>
        <p:txBody>
          <a:bodyPr anchor="b"/>
          <a:lstStyle>
            <a:lvl1pPr algn="l">
              <a:defRPr sz="28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12746" y="568603"/>
            <a:ext cx="9169202" cy="12188565"/>
          </a:xfrm>
        </p:spPr>
        <p:txBody>
          <a:bodyPr/>
          <a:lstStyle>
            <a:lvl1pPr>
              <a:defRPr sz="4480"/>
            </a:lvl1pPr>
            <a:lvl2pPr>
              <a:defRPr sz="3920"/>
            </a:lvl2pPr>
            <a:lvl3pPr>
              <a:defRPr sz="3360"/>
            </a:lvl3pPr>
            <a:lvl4pPr>
              <a:defRPr sz="2800"/>
            </a:lvl4pPr>
            <a:lvl5pPr>
              <a:defRPr sz="2800"/>
            </a:lvl5pPr>
            <a:lvl6pPr>
              <a:defRPr sz="2800"/>
            </a:lvl6pPr>
            <a:lvl7pPr>
              <a:defRPr sz="2800"/>
            </a:lvl7pPr>
            <a:lvl8pPr>
              <a:defRPr sz="2800"/>
            </a:lvl8pPr>
            <a:lvl9pPr>
              <a:defRPr sz="2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20107" y="2988465"/>
            <a:ext cx="5396161" cy="9768704"/>
          </a:xfrm>
        </p:spPr>
        <p:txBody>
          <a:bodyPr/>
          <a:lstStyle>
            <a:lvl1pPr marL="0" indent="0">
              <a:buNone/>
              <a:defRPr sz="1960"/>
            </a:lvl1pPr>
            <a:lvl2pPr marL="640091" indent="0">
              <a:buNone/>
              <a:defRPr sz="1680"/>
            </a:lvl2pPr>
            <a:lvl3pPr marL="1280180" indent="0">
              <a:buNone/>
              <a:defRPr sz="1400"/>
            </a:lvl3pPr>
            <a:lvl4pPr marL="1920271" indent="0">
              <a:buNone/>
              <a:defRPr sz="1260"/>
            </a:lvl4pPr>
            <a:lvl5pPr marL="2560361" indent="0">
              <a:buNone/>
              <a:defRPr sz="1260"/>
            </a:lvl5pPr>
            <a:lvl6pPr marL="3200451" indent="0">
              <a:buNone/>
              <a:defRPr sz="1260"/>
            </a:lvl6pPr>
            <a:lvl7pPr marL="3840541" indent="0">
              <a:buNone/>
              <a:defRPr sz="1260"/>
            </a:lvl7pPr>
            <a:lvl8pPr marL="4480632" indent="0">
              <a:buNone/>
              <a:defRPr sz="1260"/>
            </a:lvl8pPr>
            <a:lvl9pPr marL="5120721" indent="0">
              <a:buNone/>
              <a:defRPr sz="126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14916" y="9996807"/>
            <a:ext cx="9841230" cy="1180179"/>
          </a:xfrm>
        </p:spPr>
        <p:txBody>
          <a:bodyPr anchor="b"/>
          <a:lstStyle>
            <a:lvl1pPr algn="l">
              <a:defRPr sz="28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214916" y="1276047"/>
            <a:ext cx="9841230" cy="8568690"/>
          </a:xfrm>
        </p:spPr>
        <p:txBody>
          <a:bodyPr/>
          <a:lstStyle>
            <a:lvl1pPr marL="0" indent="0">
              <a:buNone/>
              <a:defRPr sz="4480"/>
            </a:lvl1pPr>
            <a:lvl2pPr marL="640091" indent="0">
              <a:buNone/>
              <a:defRPr sz="3920"/>
            </a:lvl2pPr>
            <a:lvl3pPr marL="1280180" indent="0">
              <a:buNone/>
              <a:defRPr sz="3360"/>
            </a:lvl3pPr>
            <a:lvl4pPr marL="1920271" indent="0">
              <a:buNone/>
              <a:defRPr sz="2800"/>
            </a:lvl4pPr>
            <a:lvl5pPr marL="2560361" indent="0">
              <a:buNone/>
              <a:defRPr sz="2800"/>
            </a:lvl5pPr>
            <a:lvl6pPr marL="3200451" indent="0">
              <a:buNone/>
              <a:defRPr sz="2800"/>
            </a:lvl6pPr>
            <a:lvl7pPr marL="3840541" indent="0">
              <a:buNone/>
              <a:defRPr sz="2800"/>
            </a:lvl7pPr>
            <a:lvl8pPr marL="4480632" indent="0">
              <a:buNone/>
              <a:defRPr sz="2800"/>
            </a:lvl8pPr>
            <a:lvl9pPr marL="5120721" indent="0">
              <a:buNone/>
              <a:defRPr sz="28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214916" y="11176986"/>
            <a:ext cx="9841230" cy="1676051"/>
          </a:xfrm>
        </p:spPr>
        <p:txBody>
          <a:bodyPr/>
          <a:lstStyle>
            <a:lvl1pPr marL="0" indent="0">
              <a:buNone/>
              <a:defRPr sz="1960"/>
            </a:lvl1pPr>
            <a:lvl2pPr marL="640091" indent="0">
              <a:buNone/>
              <a:defRPr sz="1680"/>
            </a:lvl2pPr>
            <a:lvl3pPr marL="1280180" indent="0">
              <a:buNone/>
              <a:defRPr sz="1400"/>
            </a:lvl3pPr>
            <a:lvl4pPr marL="1920271" indent="0">
              <a:buNone/>
              <a:defRPr sz="1260"/>
            </a:lvl4pPr>
            <a:lvl5pPr marL="2560361" indent="0">
              <a:buNone/>
              <a:defRPr sz="1260"/>
            </a:lvl5pPr>
            <a:lvl6pPr marL="3200451" indent="0">
              <a:buNone/>
              <a:defRPr sz="1260"/>
            </a:lvl6pPr>
            <a:lvl7pPr marL="3840541" indent="0">
              <a:buNone/>
              <a:defRPr sz="1260"/>
            </a:lvl7pPr>
            <a:lvl8pPr marL="4480632" indent="0">
              <a:buNone/>
              <a:defRPr sz="1260"/>
            </a:lvl8pPr>
            <a:lvl9pPr marL="5120721" indent="0">
              <a:buNone/>
              <a:defRPr sz="126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1891489" y="571910"/>
            <a:ext cx="3690461" cy="12185259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20104" y="571910"/>
            <a:ext cx="10798016" cy="1218525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20107" y="571913"/>
            <a:ext cx="14761845" cy="238019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0107" y="3332274"/>
            <a:ext cx="14761845" cy="942489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0105" y="13236513"/>
            <a:ext cx="3827145" cy="76033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04038" y="13236513"/>
            <a:ext cx="5193983" cy="76033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754806" y="13236513"/>
            <a:ext cx="3827145" cy="76033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640091" rtl="0" eaLnBrk="1" latinLnBrk="0" hangingPunct="1">
        <a:spcBef>
          <a:spcPct val="0"/>
        </a:spcBef>
        <a:buNone/>
        <a:defRPr sz="616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80068" indent="-480068" algn="l" defTabSz="640091" rtl="0" eaLnBrk="1" latinLnBrk="0" hangingPunct="1">
        <a:spcBef>
          <a:spcPct val="20000"/>
        </a:spcBef>
        <a:buFont typeface="Arial"/>
        <a:buChar char="•"/>
        <a:defRPr sz="4480" kern="1200">
          <a:solidFill>
            <a:schemeClr val="tx1"/>
          </a:solidFill>
          <a:latin typeface="+mn-lt"/>
          <a:ea typeface="+mn-ea"/>
          <a:cs typeface="+mn-cs"/>
        </a:defRPr>
      </a:lvl1pPr>
      <a:lvl2pPr marL="1040147" indent="-400056" algn="l" defTabSz="640091" rtl="0" eaLnBrk="1" latinLnBrk="0" hangingPunct="1">
        <a:spcBef>
          <a:spcPct val="20000"/>
        </a:spcBef>
        <a:buFont typeface="Arial"/>
        <a:buChar char="–"/>
        <a:defRPr sz="3920" kern="1200">
          <a:solidFill>
            <a:schemeClr val="tx1"/>
          </a:solidFill>
          <a:latin typeface="+mn-lt"/>
          <a:ea typeface="+mn-ea"/>
          <a:cs typeface="+mn-cs"/>
        </a:defRPr>
      </a:lvl2pPr>
      <a:lvl3pPr marL="1600225" indent="-320045" algn="l" defTabSz="640091" rtl="0" eaLnBrk="1" latinLnBrk="0" hangingPunct="1">
        <a:spcBef>
          <a:spcPct val="20000"/>
        </a:spcBef>
        <a:buFont typeface="Arial"/>
        <a:buChar char="•"/>
        <a:defRPr sz="3360" kern="1200">
          <a:solidFill>
            <a:schemeClr val="tx1"/>
          </a:solidFill>
          <a:latin typeface="+mn-lt"/>
          <a:ea typeface="+mn-ea"/>
          <a:cs typeface="+mn-cs"/>
        </a:defRPr>
      </a:lvl3pPr>
      <a:lvl4pPr marL="2240316" indent="-320045" algn="l" defTabSz="640091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4pPr>
      <a:lvl5pPr marL="2880405" indent="-320045" algn="l" defTabSz="640091" rtl="0" eaLnBrk="1" latinLnBrk="0" hangingPunct="1">
        <a:spcBef>
          <a:spcPct val="20000"/>
        </a:spcBef>
        <a:buFont typeface="Arial"/>
        <a:buChar char="»"/>
        <a:defRPr sz="2800" kern="1200">
          <a:solidFill>
            <a:schemeClr val="tx1"/>
          </a:solidFill>
          <a:latin typeface="+mn-lt"/>
          <a:ea typeface="+mn-ea"/>
          <a:cs typeface="+mn-cs"/>
        </a:defRPr>
      </a:lvl5pPr>
      <a:lvl6pPr marL="3520496" indent="-320045" algn="l" defTabSz="640091" rtl="0" eaLnBrk="1" latinLnBrk="0" hangingPunct="1">
        <a:spcBef>
          <a:spcPct val="20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6pPr>
      <a:lvl7pPr marL="4160587" indent="-320045" algn="l" defTabSz="640091" rtl="0" eaLnBrk="1" latinLnBrk="0" hangingPunct="1">
        <a:spcBef>
          <a:spcPct val="20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7pPr>
      <a:lvl8pPr marL="4800676" indent="-320045" algn="l" defTabSz="640091" rtl="0" eaLnBrk="1" latinLnBrk="0" hangingPunct="1">
        <a:spcBef>
          <a:spcPct val="20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8pPr>
      <a:lvl9pPr marL="5440767" indent="-320045" algn="l" defTabSz="640091" rtl="0" eaLnBrk="1" latinLnBrk="0" hangingPunct="1">
        <a:spcBef>
          <a:spcPct val="20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40091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1pPr>
      <a:lvl2pPr marL="640091" algn="l" defTabSz="640091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2pPr>
      <a:lvl3pPr marL="1280180" algn="l" defTabSz="640091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3pPr>
      <a:lvl4pPr marL="1920271" algn="l" defTabSz="640091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4pPr>
      <a:lvl5pPr marL="2560361" algn="l" defTabSz="640091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5pPr>
      <a:lvl6pPr marL="3200451" algn="l" defTabSz="640091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6pPr>
      <a:lvl7pPr marL="3840541" algn="l" defTabSz="640091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7pPr>
      <a:lvl8pPr marL="4480632" algn="l" defTabSz="640091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8pPr>
      <a:lvl9pPr marL="5120721" algn="l" defTabSz="640091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/>
          <p:cNvSpPr/>
          <p:nvPr/>
        </p:nvSpPr>
        <p:spPr>
          <a:xfrm>
            <a:off x="2751415" y="430963"/>
            <a:ext cx="3148695" cy="968970"/>
          </a:xfrm>
          <a:prstGeom prst="roundRect">
            <a:avLst>
              <a:gd name="adj" fmla="val 0"/>
            </a:avLst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800" b="1" dirty="0">
                <a:solidFill>
                  <a:schemeClr val="tx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Raw </a:t>
            </a:r>
            <a:r>
              <a:rPr lang="es-ES" sz="1800" b="1" dirty="0" err="1">
                <a:solidFill>
                  <a:schemeClr val="tx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metagenomics</a:t>
            </a:r>
            <a:r>
              <a:rPr lang="es-ES" sz="1800" b="1" dirty="0">
                <a:solidFill>
                  <a:schemeClr val="tx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 </a:t>
            </a:r>
            <a:r>
              <a:rPr lang="es-ES" sz="1800" b="1" dirty="0" err="1">
                <a:solidFill>
                  <a:schemeClr val="tx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reads</a:t>
            </a:r>
            <a:endParaRPr sz="1800" b="1" dirty="0">
              <a:solidFill>
                <a:schemeClr val="tx1"/>
              </a:solidFill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  <a:p>
            <a:pPr algn="ctr"/>
            <a:r>
              <a:rPr sz="1800" dirty="0">
                <a:solidFill>
                  <a:schemeClr val="tx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n = </a:t>
            </a:r>
            <a:r>
              <a:rPr lang="es-ES" sz="1800" dirty="0">
                <a:solidFill>
                  <a:srgbClr val="FF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##</a:t>
            </a:r>
            <a:endParaRPr sz="1800" dirty="0">
              <a:solidFill>
                <a:srgbClr val="FF0000"/>
              </a:solidFill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2798908" y="1953492"/>
            <a:ext cx="3033676" cy="584922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latin typeface="Arial"/>
              </a:defRPr>
            </a:pPr>
            <a:r>
              <a:rPr sz="1800" b="1" dirty="0">
                <a:solidFill>
                  <a:schemeClr val="tx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Q</a:t>
            </a:r>
            <a:r>
              <a:rPr lang="es-ES" sz="1800" b="1" dirty="0" err="1">
                <a:solidFill>
                  <a:schemeClr val="tx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uality</a:t>
            </a:r>
            <a:r>
              <a:rPr lang="es-ES" sz="1800" b="1" dirty="0">
                <a:solidFill>
                  <a:schemeClr val="tx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 control</a:t>
            </a:r>
            <a:endParaRPr sz="1800" b="1" dirty="0">
              <a:solidFill>
                <a:schemeClr val="tx1"/>
              </a:solidFill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  <a:p>
            <a:pPr algn="ctr"/>
            <a:r>
              <a:rPr lang="es-ES" sz="1800" dirty="0" err="1">
                <a:solidFill>
                  <a:schemeClr val="tx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BBduk</a:t>
            </a:r>
            <a:endParaRPr sz="2400" dirty="0">
              <a:solidFill>
                <a:schemeClr val="tx1"/>
              </a:solidFill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2798908" y="2807381"/>
            <a:ext cx="3033676" cy="96897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latin typeface="Arial"/>
              </a:defRPr>
            </a:pPr>
            <a:r>
              <a:rPr sz="1800" b="1" dirty="0">
                <a:solidFill>
                  <a:schemeClr val="tx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Assembly</a:t>
            </a:r>
          </a:p>
          <a:p>
            <a:pPr algn="ctr"/>
            <a:r>
              <a:rPr sz="2000" dirty="0" err="1">
                <a:solidFill>
                  <a:schemeClr val="tx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metaSPAdes</a:t>
            </a:r>
            <a:r>
              <a:rPr sz="2000" dirty="0">
                <a:solidFill>
                  <a:schemeClr val="tx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, MEGAHIT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73805" y="4093232"/>
            <a:ext cx="1695226" cy="1174728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latin typeface="Arial"/>
              </a:defRPr>
            </a:pPr>
            <a:r>
              <a:rPr lang="es-ES" sz="1800" b="1" dirty="0" err="1">
                <a:solidFill>
                  <a:schemeClr val="tx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Filtering</a:t>
            </a:r>
            <a:r>
              <a:rPr lang="es-ES" sz="1800" b="1" dirty="0">
                <a:solidFill>
                  <a:schemeClr val="tx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 1</a:t>
            </a:r>
          </a:p>
          <a:p>
            <a:pPr algn="ctr"/>
            <a:r>
              <a:rPr lang="es-ES" sz="1800" dirty="0">
                <a:solidFill>
                  <a:schemeClr val="tx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(i) </a:t>
            </a:r>
            <a:r>
              <a:rPr sz="1800" dirty="0">
                <a:solidFill>
                  <a:schemeClr val="tx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VirSorter2</a:t>
            </a:r>
            <a:endParaRPr lang="es-ES" sz="1800" dirty="0">
              <a:solidFill>
                <a:schemeClr val="tx1"/>
              </a:solidFill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  <a:p>
            <a:pPr algn="ctr"/>
            <a:endParaRPr sz="1800" dirty="0">
              <a:solidFill>
                <a:schemeClr val="tx1"/>
              </a:solidFill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3339790" y="5616604"/>
            <a:ext cx="2560320" cy="640080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latin typeface="Arial"/>
              </a:defRPr>
            </a:pPr>
            <a:r>
              <a:rPr sz="1800" b="1" dirty="0">
                <a:solidFill>
                  <a:schemeClr val="tx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Identified contigs</a:t>
            </a:r>
          </a:p>
          <a:p>
            <a:pPr algn="ctr"/>
            <a:r>
              <a:rPr lang="es-ES" sz="1800" dirty="0">
                <a:solidFill>
                  <a:srgbClr val="FF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##</a:t>
            </a:r>
            <a:endParaRPr sz="1800" dirty="0">
              <a:solidFill>
                <a:srgbClr val="FF0000"/>
              </a:solidFill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2881608" y="6498032"/>
            <a:ext cx="3465089" cy="1446306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latin typeface="Arial"/>
              </a:defRPr>
            </a:pPr>
            <a:r>
              <a:rPr sz="1800" b="1" dirty="0">
                <a:solidFill>
                  <a:schemeClr val="tx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Filtering 2</a:t>
            </a:r>
          </a:p>
          <a:p>
            <a:r>
              <a:rPr lang="es-ES" sz="1400" dirty="0">
                <a:solidFill>
                  <a:schemeClr val="tx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i) Virus genes</a:t>
            </a:r>
            <a:r>
              <a:rPr sz="1400" dirty="0">
                <a:solidFill>
                  <a:schemeClr val="tx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 &gt;0</a:t>
            </a:r>
            <a:r>
              <a:rPr lang="es-ES" sz="1400" dirty="0">
                <a:solidFill>
                  <a:schemeClr val="tx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,</a:t>
            </a:r>
            <a:endParaRPr sz="1400" dirty="0">
              <a:solidFill>
                <a:schemeClr val="tx1"/>
              </a:solidFill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  <a:p>
            <a:r>
              <a:rPr lang="es-ES" sz="1400" dirty="0" err="1">
                <a:solidFill>
                  <a:schemeClr val="tx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ii</a:t>
            </a:r>
            <a:r>
              <a:rPr lang="es-ES" sz="1400" dirty="0">
                <a:solidFill>
                  <a:schemeClr val="tx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) v</a:t>
            </a:r>
            <a:r>
              <a:rPr sz="1400" dirty="0" err="1">
                <a:solidFill>
                  <a:schemeClr val="tx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irus</a:t>
            </a:r>
            <a:r>
              <a:rPr sz="1400" dirty="0">
                <a:solidFill>
                  <a:schemeClr val="tx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 </a:t>
            </a:r>
            <a:r>
              <a:rPr lang="es-ES" sz="1400" dirty="0">
                <a:solidFill>
                  <a:schemeClr val="tx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gene =0 and host gene </a:t>
            </a:r>
            <a:r>
              <a:rPr sz="1400" dirty="0">
                <a:solidFill>
                  <a:schemeClr val="tx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= 0</a:t>
            </a:r>
            <a:r>
              <a:rPr lang="es-ES" sz="1400" dirty="0">
                <a:solidFill>
                  <a:schemeClr val="tx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,</a:t>
            </a:r>
          </a:p>
          <a:p>
            <a:r>
              <a:rPr lang="es-ES" sz="1400" dirty="0" err="1">
                <a:solidFill>
                  <a:schemeClr val="tx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iii</a:t>
            </a:r>
            <a:r>
              <a:rPr lang="es-ES" sz="1400" dirty="0">
                <a:solidFill>
                  <a:schemeClr val="tx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) Those </a:t>
            </a:r>
            <a:r>
              <a:rPr lang="es-ES" sz="1400" dirty="0" err="1">
                <a:solidFill>
                  <a:schemeClr val="tx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with</a:t>
            </a:r>
            <a:r>
              <a:rPr lang="es-ES" sz="1400" dirty="0">
                <a:solidFill>
                  <a:schemeClr val="tx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 </a:t>
            </a:r>
            <a:r>
              <a:rPr lang="es-ES" sz="1400" dirty="0" err="1">
                <a:solidFill>
                  <a:schemeClr val="tx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unknown</a:t>
            </a:r>
            <a:r>
              <a:rPr lang="es-ES" sz="1400" dirty="0">
                <a:solidFill>
                  <a:schemeClr val="tx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 genes ≥ 75%</a:t>
            </a:r>
          </a:p>
          <a:p>
            <a:r>
              <a:rPr lang="es-ES" sz="1400" dirty="0" err="1">
                <a:solidFill>
                  <a:schemeClr val="tx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iv</a:t>
            </a:r>
            <a:r>
              <a:rPr lang="es-ES" sz="1400" dirty="0">
                <a:solidFill>
                  <a:schemeClr val="tx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) Trim host </a:t>
            </a:r>
            <a:r>
              <a:rPr lang="es-ES" sz="1400" dirty="0" err="1">
                <a:solidFill>
                  <a:schemeClr val="tx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region</a:t>
            </a:r>
            <a:r>
              <a:rPr lang="es-ES" sz="1400" dirty="0">
                <a:solidFill>
                  <a:schemeClr val="tx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 </a:t>
            </a:r>
            <a:r>
              <a:rPr lang="es-ES" sz="1400" dirty="0" err="1">
                <a:solidFill>
                  <a:schemeClr val="tx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with</a:t>
            </a:r>
            <a:r>
              <a:rPr lang="es-ES" sz="1400" dirty="0">
                <a:solidFill>
                  <a:schemeClr val="tx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 </a:t>
            </a:r>
            <a:r>
              <a:rPr lang="es-ES" sz="1400" dirty="0" err="1">
                <a:solidFill>
                  <a:schemeClr val="tx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CheckV</a:t>
            </a:r>
            <a:r>
              <a:rPr lang="es-ES" sz="1400" dirty="0">
                <a:solidFill>
                  <a:schemeClr val="tx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 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39790" y="8936427"/>
            <a:ext cx="2560320" cy="112804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latin typeface="Arial"/>
              </a:defRPr>
            </a:pPr>
            <a:r>
              <a:rPr lang="es-ES" sz="1800" b="1" dirty="0" err="1">
                <a:solidFill>
                  <a:schemeClr val="tx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vOTU</a:t>
            </a:r>
            <a:r>
              <a:rPr lang="es-ES" sz="1800" b="1" dirty="0">
                <a:solidFill>
                  <a:schemeClr val="tx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 </a:t>
            </a:r>
            <a:r>
              <a:rPr lang="es-ES" sz="1800" b="1" dirty="0" err="1">
                <a:solidFill>
                  <a:schemeClr val="tx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clustering</a:t>
            </a:r>
            <a:endParaRPr lang="es-ES" sz="1800" b="1" dirty="0">
              <a:solidFill>
                <a:schemeClr val="tx1"/>
              </a:solidFill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  <a:p>
            <a:pPr algn="ctr">
              <a:defRPr sz="1000">
                <a:latin typeface="Arial"/>
              </a:defRPr>
            </a:pPr>
            <a:r>
              <a:rPr lang="es-ES" sz="1800" b="1" dirty="0">
                <a:solidFill>
                  <a:schemeClr val="tx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MMseq2</a:t>
            </a:r>
            <a:endParaRPr sz="1800" b="1" dirty="0">
              <a:solidFill>
                <a:schemeClr val="tx1"/>
              </a:solidFill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  <a:p>
            <a:pPr algn="ctr"/>
            <a:r>
              <a:rPr sz="1800" dirty="0">
                <a:solidFill>
                  <a:schemeClr val="tx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(≥95% ID across ≥80% length)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39790" y="10250308"/>
            <a:ext cx="2560320" cy="1107442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latin typeface="Arial"/>
              </a:defRPr>
            </a:pPr>
            <a:r>
              <a:rPr sz="1800" b="1" dirty="0" err="1">
                <a:solidFill>
                  <a:schemeClr val="tx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vOTU</a:t>
            </a:r>
            <a:endParaRPr sz="1800" b="1" dirty="0">
              <a:solidFill>
                <a:schemeClr val="tx1"/>
              </a:solidFill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  <a:p>
            <a:pPr algn="ctr"/>
            <a:r>
              <a:rPr lang="es-ES" sz="1800" dirty="0">
                <a:solidFill>
                  <a:srgbClr val="FF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##</a:t>
            </a:r>
            <a:r>
              <a:rPr sz="1800" dirty="0">
                <a:solidFill>
                  <a:schemeClr val="tx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 (&lt;1 kb)</a:t>
            </a:r>
          </a:p>
          <a:p>
            <a:pPr algn="ctr"/>
            <a:r>
              <a:rPr lang="es-ES" sz="1800" dirty="0">
                <a:solidFill>
                  <a:srgbClr val="FF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##</a:t>
            </a:r>
            <a:r>
              <a:rPr sz="1800" dirty="0">
                <a:solidFill>
                  <a:schemeClr val="tx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 (≥5 kb)</a:t>
            </a:r>
          </a:p>
          <a:p>
            <a:pPr algn="ctr"/>
            <a:r>
              <a:rPr lang="es-ES" sz="1800" dirty="0">
                <a:solidFill>
                  <a:srgbClr val="FF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##</a:t>
            </a:r>
            <a:r>
              <a:rPr sz="1800" dirty="0">
                <a:solidFill>
                  <a:schemeClr val="tx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 (≥10 kb)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707795" y="392511"/>
            <a:ext cx="3148695" cy="1140091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latin typeface="Arial"/>
              </a:defRPr>
            </a:pPr>
            <a:r>
              <a:rPr lang="es-ES" sz="1800" b="1" dirty="0">
                <a:solidFill>
                  <a:schemeClr val="tx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MAG </a:t>
            </a:r>
            <a:r>
              <a:rPr lang="es-ES" sz="1800" b="1" dirty="0" err="1">
                <a:solidFill>
                  <a:schemeClr val="tx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recovery</a:t>
            </a:r>
            <a:endParaRPr sz="1800" dirty="0">
              <a:solidFill>
                <a:schemeClr val="tx1"/>
              </a:solidFill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8565006" y="1838431"/>
            <a:ext cx="3424747" cy="1994403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latin typeface="Arial"/>
              </a:defRPr>
            </a:pPr>
            <a:r>
              <a:rPr sz="1800" b="1" dirty="0">
                <a:solidFill>
                  <a:schemeClr val="tx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Binning</a:t>
            </a:r>
            <a:endParaRPr lang="es-ES" sz="1800" b="1" dirty="0">
              <a:solidFill>
                <a:schemeClr val="tx1"/>
              </a:solidFill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  <a:p>
            <a:pPr algn="ctr">
              <a:defRPr sz="1000">
                <a:latin typeface="Arial"/>
              </a:defRPr>
            </a:pPr>
            <a:r>
              <a:rPr lang="es-ES" sz="1800" dirty="0" err="1">
                <a:solidFill>
                  <a:schemeClr val="tx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Contigs</a:t>
            </a:r>
            <a:r>
              <a:rPr lang="es-ES" sz="1800" dirty="0">
                <a:solidFill>
                  <a:schemeClr val="tx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 ≥ 1 kb are </a:t>
            </a:r>
            <a:r>
              <a:rPr lang="es-ES" sz="1800" dirty="0" err="1">
                <a:solidFill>
                  <a:schemeClr val="tx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binned</a:t>
            </a:r>
            <a:r>
              <a:rPr lang="es-ES" sz="1800" dirty="0">
                <a:solidFill>
                  <a:schemeClr val="tx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:</a:t>
            </a:r>
          </a:p>
          <a:p>
            <a:pPr>
              <a:defRPr sz="1000">
                <a:latin typeface="Arial"/>
              </a:defRPr>
            </a:pPr>
            <a:r>
              <a:rPr lang="es-ES" sz="1600" dirty="0">
                <a:solidFill>
                  <a:schemeClr val="tx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-BinSanity: Min </a:t>
            </a:r>
            <a:r>
              <a:rPr lang="es-ES" sz="1600" dirty="0" err="1">
                <a:solidFill>
                  <a:schemeClr val="tx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scaffold</a:t>
            </a:r>
            <a:r>
              <a:rPr lang="es-ES" sz="1600" dirty="0">
                <a:solidFill>
                  <a:schemeClr val="tx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: 3 kb</a:t>
            </a:r>
          </a:p>
          <a:p>
            <a:pPr>
              <a:defRPr sz="1000">
                <a:latin typeface="Arial"/>
              </a:defRPr>
            </a:pPr>
            <a:r>
              <a:rPr lang="es-ES" sz="1600" dirty="0">
                <a:solidFill>
                  <a:schemeClr val="tx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-ABAWACA:  Min </a:t>
            </a:r>
            <a:r>
              <a:rPr lang="es-ES" sz="1600" dirty="0" err="1">
                <a:solidFill>
                  <a:schemeClr val="tx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scaffold</a:t>
            </a:r>
            <a:r>
              <a:rPr lang="es-ES" sz="1600" dirty="0">
                <a:solidFill>
                  <a:schemeClr val="tx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: 5 kb</a:t>
            </a:r>
          </a:p>
          <a:p>
            <a:pPr>
              <a:defRPr sz="1000">
                <a:latin typeface="Arial"/>
              </a:defRPr>
            </a:pPr>
            <a:r>
              <a:rPr lang="es-ES" sz="1600" dirty="0">
                <a:solidFill>
                  <a:schemeClr val="tx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-MaxBin2:  40 &amp; 107 gene </a:t>
            </a:r>
            <a:r>
              <a:rPr lang="es-ES" sz="1600" dirty="0" err="1">
                <a:solidFill>
                  <a:schemeClr val="tx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marker</a:t>
            </a:r>
            <a:endParaRPr lang="es-ES" sz="1600" dirty="0">
              <a:solidFill>
                <a:schemeClr val="tx1"/>
              </a:solidFill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  <a:p>
            <a:pPr>
              <a:defRPr sz="1000">
                <a:latin typeface="Arial"/>
              </a:defRPr>
            </a:pPr>
            <a:r>
              <a:rPr lang="es-ES" sz="1600" dirty="0">
                <a:solidFill>
                  <a:schemeClr val="tx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-CONCOCT</a:t>
            </a:r>
          </a:p>
          <a:p>
            <a:pPr>
              <a:defRPr sz="1000">
                <a:latin typeface="Arial"/>
              </a:defRPr>
            </a:pPr>
            <a:r>
              <a:rPr lang="es-ES" sz="1600" dirty="0">
                <a:solidFill>
                  <a:schemeClr val="tx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-MetaBAT2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503198" y="5661496"/>
            <a:ext cx="2816352" cy="928608"/>
          </a:xfrm>
          <a:prstGeom prst="roundRect">
            <a:avLst/>
          </a:prstGeom>
          <a:solidFill>
            <a:srgbClr val="FDB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latin typeface="Arial"/>
              </a:defRPr>
            </a:pPr>
            <a:r>
              <a:rPr sz="1800" b="1" dirty="0">
                <a:solidFill>
                  <a:schemeClr val="tx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Read mapping</a:t>
            </a:r>
          </a:p>
          <a:p>
            <a:pPr algn="ctr"/>
            <a:r>
              <a:rPr lang="es-ES" sz="1800" dirty="0">
                <a:solidFill>
                  <a:schemeClr val="tx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(minimap2 + </a:t>
            </a:r>
            <a:r>
              <a:rPr lang="es-ES" sz="1800" dirty="0" err="1">
                <a:solidFill>
                  <a:schemeClr val="tx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SAMtools</a:t>
            </a:r>
            <a:r>
              <a:rPr lang="es-ES" sz="1800" dirty="0">
                <a:solidFill>
                  <a:schemeClr val="tx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 + </a:t>
            </a:r>
            <a:r>
              <a:rPr lang="es-ES" sz="1800" dirty="0" err="1">
                <a:solidFill>
                  <a:schemeClr val="tx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CoverM</a:t>
            </a:r>
            <a:r>
              <a:rPr lang="es-ES" sz="1800" dirty="0">
                <a:solidFill>
                  <a:schemeClr val="tx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2821875" y="3256822"/>
            <a:ext cx="2015052" cy="866464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latin typeface="Arial"/>
              </a:defRPr>
            </a:pPr>
            <a:r>
              <a:rPr lang="es-ES" sz="1800" b="1" dirty="0" err="1">
                <a:solidFill>
                  <a:schemeClr val="tx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Quallity</a:t>
            </a:r>
            <a:r>
              <a:rPr lang="es-ES" sz="1800" b="1" dirty="0">
                <a:solidFill>
                  <a:schemeClr val="tx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 </a:t>
            </a:r>
            <a:r>
              <a:rPr lang="es-ES" sz="1800" b="1" dirty="0" err="1">
                <a:solidFill>
                  <a:schemeClr val="tx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check</a:t>
            </a:r>
            <a:endParaRPr sz="1800" b="1" dirty="0">
              <a:solidFill>
                <a:schemeClr val="tx1"/>
              </a:solidFill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  <a:p>
            <a:pPr algn="ctr"/>
            <a:r>
              <a:rPr sz="1800" dirty="0" err="1">
                <a:solidFill>
                  <a:schemeClr val="tx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CheckM</a:t>
            </a:r>
            <a:endParaRPr sz="1800" dirty="0">
              <a:solidFill>
                <a:schemeClr val="tx1"/>
              </a:solidFill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8635797" y="6989925"/>
            <a:ext cx="1760408" cy="952205"/>
          </a:xfrm>
          <a:prstGeom prst="roundRect">
            <a:avLst/>
          </a:prstGeom>
          <a:solidFill>
            <a:srgbClr val="FDB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800" dirty="0">
                <a:solidFill>
                  <a:schemeClr val="tx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α, β Diversity</a:t>
            </a:r>
          </a:p>
        </p:txBody>
      </p:sp>
      <p:sp>
        <p:nvSpPr>
          <p:cNvPr id="54" name="Rounded Rectangle 6">
            <a:extLst>
              <a:ext uri="{FF2B5EF4-FFF2-40B4-BE49-F238E27FC236}">
                <a16:creationId xmlns:a16="http://schemas.microsoft.com/office/drawing/2014/main" id="{2D9122A7-46CE-BA5B-8D6A-22BA9EFAD493}"/>
              </a:ext>
            </a:extLst>
          </p:cNvPr>
          <p:cNvSpPr/>
          <p:nvPr/>
        </p:nvSpPr>
        <p:spPr>
          <a:xfrm>
            <a:off x="7017584" y="4076953"/>
            <a:ext cx="1604122" cy="1174729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latin typeface="Arial"/>
              </a:defRPr>
            </a:pPr>
            <a:r>
              <a:rPr sz="1800" b="1" dirty="0">
                <a:solidFill>
                  <a:schemeClr val="tx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Filtering 1</a:t>
            </a:r>
          </a:p>
          <a:p>
            <a:pPr algn="ctr"/>
            <a:r>
              <a:rPr lang="es-ES" sz="1800" dirty="0">
                <a:solidFill>
                  <a:schemeClr val="tx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(</a:t>
            </a:r>
            <a:r>
              <a:rPr lang="es-ES" sz="1800" dirty="0" err="1">
                <a:solidFill>
                  <a:schemeClr val="tx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iv</a:t>
            </a:r>
            <a:r>
              <a:rPr lang="es-ES" sz="1800" dirty="0">
                <a:solidFill>
                  <a:schemeClr val="tx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) G</a:t>
            </a:r>
            <a:r>
              <a:rPr sz="1800" dirty="0">
                <a:solidFill>
                  <a:schemeClr val="tx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e</a:t>
            </a:r>
            <a:r>
              <a:rPr lang="es-ES" sz="1800" dirty="0">
                <a:solidFill>
                  <a:schemeClr val="tx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N</a:t>
            </a:r>
            <a:r>
              <a:rPr sz="1800" dirty="0" err="1">
                <a:solidFill>
                  <a:schemeClr val="tx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omad</a:t>
            </a:r>
            <a:endParaRPr lang="es-ES" sz="1800" dirty="0">
              <a:solidFill>
                <a:schemeClr val="tx1"/>
              </a:solidFill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  <a:p>
            <a:pPr algn="ctr"/>
            <a:r>
              <a:rPr lang="es-ES" sz="1800" dirty="0">
                <a:solidFill>
                  <a:schemeClr val="tx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default</a:t>
            </a:r>
            <a:endParaRPr sz="1800" dirty="0">
              <a:solidFill>
                <a:schemeClr val="tx1"/>
              </a:solidFill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55" name="Rounded Rectangle 6">
            <a:extLst>
              <a:ext uri="{FF2B5EF4-FFF2-40B4-BE49-F238E27FC236}">
                <a16:creationId xmlns:a16="http://schemas.microsoft.com/office/drawing/2014/main" id="{71994386-5FD7-336B-828E-739037424988}"/>
              </a:ext>
            </a:extLst>
          </p:cNvPr>
          <p:cNvSpPr/>
          <p:nvPr/>
        </p:nvSpPr>
        <p:spPr>
          <a:xfrm>
            <a:off x="2859405" y="4090593"/>
            <a:ext cx="1659015" cy="1174728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latin typeface="Arial"/>
              </a:defRPr>
            </a:pPr>
            <a:r>
              <a:rPr sz="1800" b="1" dirty="0">
                <a:solidFill>
                  <a:schemeClr val="tx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Filtering 1</a:t>
            </a:r>
          </a:p>
          <a:p>
            <a:pPr algn="ctr"/>
            <a:r>
              <a:rPr lang="es-ES" sz="1800" dirty="0">
                <a:solidFill>
                  <a:schemeClr val="tx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(</a:t>
            </a:r>
            <a:r>
              <a:rPr lang="es-ES" sz="1800" dirty="0" err="1">
                <a:solidFill>
                  <a:schemeClr val="tx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ii</a:t>
            </a:r>
            <a:r>
              <a:rPr lang="es-ES" sz="1800" dirty="0">
                <a:solidFill>
                  <a:schemeClr val="tx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) </a:t>
            </a:r>
            <a:r>
              <a:rPr lang="es-ES" sz="1800" dirty="0" err="1">
                <a:solidFill>
                  <a:schemeClr val="tx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Vibrant</a:t>
            </a:r>
            <a:endParaRPr lang="es-ES" sz="1800" dirty="0">
              <a:solidFill>
                <a:schemeClr val="tx1"/>
              </a:solidFill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  <a:p>
            <a:pPr algn="ctr"/>
            <a:r>
              <a:rPr lang="es-ES" sz="1800" dirty="0">
                <a:solidFill>
                  <a:schemeClr val="tx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default</a:t>
            </a:r>
            <a:endParaRPr sz="1800" dirty="0">
              <a:solidFill>
                <a:schemeClr val="tx1"/>
              </a:solidFill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56" name="Rounded Rectangle 6">
            <a:extLst>
              <a:ext uri="{FF2B5EF4-FFF2-40B4-BE49-F238E27FC236}">
                <a16:creationId xmlns:a16="http://schemas.microsoft.com/office/drawing/2014/main" id="{080043D8-2592-DBAD-F8B7-51BEAAB75D72}"/>
              </a:ext>
            </a:extLst>
          </p:cNvPr>
          <p:cNvSpPr/>
          <p:nvPr/>
        </p:nvSpPr>
        <p:spPr>
          <a:xfrm>
            <a:off x="4619950" y="4076954"/>
            <a:ext cx="2309312" cy="1174729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latin typeface="Arial"/>
              </a:defRPr>
            </a:pPr>
            <a:r>
              <a:rPr sz="1800" b="1" dirty="0">
                <a:solidFill>
                  <a:schemeClr val="tx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Filtering 1</a:t>
            </a:r>
          </a:p>
          <a:p>
            <a:pPr algn="ctr"/>
            <a:r>
              <a:rPr lang="es-ES" sz="1800" dirty="0">
                <a:solidFill>
                  <a:schemeClr val="tx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(</a:t>
            </a:r>
            <a:r>
              <a:rPr lang="es-ES" sz="1800" dirty="0" err="1">
                <a:solidFill>
                  <a:schemeClr val="tx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iii</a:t>
            </a:r>
            <a:r>
              <a:rPr lang="es-ES" sz="1800" dirty="0">
                <a:solidFill>
                  <a:schemeClr val="tx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) </a:t>
            </a:r>
            <a:r>
              <a:rPr sz="1800" dirty="0" err="1">
                <a:solidFill>
                  <a:schemeClr val="tx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DeepVirFinder</a:t>
            </a:r>
            <a:endParaRPr lang="es-ES" sz="1800" dirty="0">
              <a:solidFill>
                <a:schemeClr val="tx1"/>
              </a:solidFill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  <a:p>
            <a:pPr algn="ctr"/>
            <a:r>
              <a:rPr lang="es-ES" sz="1800" dirty="0">
                <a:solidFill>
                  <a:schemeClr val="tx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Score ≥ 0.9, e-</a:t>
            </a:r>
            <a:r>
              <a:rPr lang="es-ES" sz="1800" dirty="0" err="1">
                <a:solidFill>
                  <a:schemeClr val="tx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value</a:t>
            </a:r>
            <a:r>
              <a:rPr lang="es-ES" sz="1800" dirty="0">
                <a:solidFill>
                  <a:schemeClr val="tx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 ≤ 0.05</a:t>
            </a:r>
            <a:endParaRPr sz="1800" dirty="0">
              <a:solidFill>
                <a:schemeClr val="tx1"/>
              </a:solidFill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57" name="Rounded Rectangle 7">
            <a:extLst>
              <a:ext uri="{FF2B5EF4-FFF2-40B4-BE49-F238E27FC236}">
                <a16:creationId xmlns:a16="http://schemas.microsoft.com/office/drawing/2014/main" id="{E6F6D653-CD8A-036F-E5D4-0AB2314CC131}"/>
              </a:ext>
            </a:extLst>
          </p:cNvPr>
          <p:cNvSpPr/>
          <p:nvPr/>
        </p:nvSpPr>
        <p:spPr>
          <a:xfrm>
            <a:off x="3339790" y="8112467"/>
            <a:ext cx="2560320" cy="640080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latin typeface="Arial"/>
              </a:defRPr>
            </a:pPr>
            <a:r>
              <a:rPr sz="1800" b="1" dirty="0">
                <a:solidFill>
                  <a:schemeClr val="tx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Identified contigs</a:t>
            </a:r>
          </a:p>
          <a:p>
            <a:pPr algn="ctr"/>
            <a:r>
              <a:rPr lang="es-ES" sz="1800" dirty="0">
                <a:solidFill>
                  <a:srgbClr val="FF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##</a:t>
            </a:r>
            <a:endParaRPr sz="1800" dirty="0">
              <a:solidFill>
                <a:srgbClr val="FF0000"/>
              </a:solidFill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28" name="CuadroTexto 27">
            <a:extLst>
              <a:ext uri="{FF2B5EF4-FFF2-40B4-BE49-F238E27FC236}">
                <a16:creationId xmlns:a16="http://schemas.microsoft.com/office/drawing/2014/main" id="{43337853-2FD5-05DC-3E64-2305A0E2E8ED}"/>
              </a:ext>
            </a:extLst>
          </p:cNvPr>
          <p:cNvSpPr txBox="1"/>
          <p:nvPr/>
        </p:nvSpPr>
        <p:spPr>
          <a:xfrm rot="16200000">
            <a:off x="-228652" y="853057"/>
            <a:ext cx="1756229" cy="707886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s-ES" sz="2000" b="1" dirty="0" err="1"/>
              <a:t>Metagenomics</a:t>
            </a:r>
            <a:r>
              <a:rPr lang="es-ES" sz="2000" b="1" dirty="0"/>
              <a:t> </a:t>
            </a:r>
            <a:r>
              <a:rPr lang="es-ES" sz="2000" b="1" dirty="0" err="1"/>
              <a:t>samples</a:t>
            </a:r>
            <a:endParaRPr lang="es-ES" sz="2000" b="1" dirty="0"/>
          </a:p>
        </p:txBody>
      </p:sp>
      <p:sp>
        <p:nvSpPr>
          <p:cNvPr id="29" name="CuadroTexto 28">
            <a:extLst>
              <a:ext uri="{FF2B5EF4-FFF2-40B4-BE49-F238E27FC236}">
                <a16:creationId xmlns:a16="http://schemas.microsoft.com/office/drawing/2014/main" id="{9E5A0A81-E843-6EF1-E43B-D465B71D37BF}"/>
              </a:ext>
            </a:extLst>
          </p:cNvPr>
          <p:cNvSpPr txBox="1"/>
          <p:nvPr/>
        </p:nvSpPr>
        <p:spPr>
          <a:xfrm rot="16200000">
            <a:off x="-228651" y="2701416"/>
            <a:ext cx="1756227" cy="70788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s-ES" sz="2000" b="1" dirty="0" err="1"/>
              <a:t>Metagenomics</a:t>
            </a:r>
            <a:r>
              <a:rPr lang="es-ES" sz="2000" b="1" dirty="0"/>
              <a:t> </a:t>
            </a:r>
            <a:r>
              <a:rPr lang="es-ES" sz="2000" b="1" dirty="0" err="1"/>
              <a:t>processing</a:t>
            </a:r>
            <a:endParaRPr lang="es-ES" sz="2000" b="1" dirty="0"/>
          </a:p>
        </p:txBody>
      </p:sp>
      <p:sp>
        <p:nvSpPr>
          <p:cNvPr id="30" name="CuadroTexto 29">
            <a:extLst>
              <a:ext uri="{FF2B5EF4-FFF2-40B4-BE49-F238E27FC236}">
                <a16:creationId xmlns:a16="http://schemas.microsoft.com/office/drawing/2014/main" id="{B57F7224-348D-0773-2CDC-7318B9093692}"/>
              </a:ext>
            </a:extLst>
          </p:cNvPr>
          <p:cNvSpPr txBox="1"/>
          <p:nvPr/>
        </p:nvSpPr>
        <p:spPr>
          <a:xfrm rot="16200000">
            <a:off x="-1745387" y="6047220"/>
            <a:ext cx="4726945" cy="7200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txBody>
          <a:bodyPr wrap="square" rtlCol="0" anchor="ctr">
            <a:spAutoFit/>
          </a:bodyPr>
          <a:lstStyle/>
          <a:p>
            <a:pPr algn="ctr"/>
            <a:r>
              <a:rPr lang="es-ES" sz="2000" b="1" dirty="0"/>
              <a:t>Viral </a:t>
            </a:r>
            <a:r>
              <a:rPr lang="es-ES" sz="2000" b="1" dirty="0" err="1"/>
              <a:t>identification</a:t>
            </a:r>
            <a:endParaRPr lang="es-ES" sz="2000" b="1" dirty="0"/>
          </a:p>
        </p:txBody>
      </p:sp>
      <p:cxnSp>
        <p:nvCxnSpPr>
          <p:cNvPr id="32" name="Conector recto de flecha 31">
            <a:extLst>
              <a:ext uri="{FF2B5EF4-FFF2-40B4-BE49-F238E27FC236}">
                <a16:creationId xmlns:a16="http://schemas.microsoft.com/office/drawing/2014/main" id="{8630177B-EC03-399E-DA2F-0E309195ECDE}"/>
              </a:ext>
            </a:extLst>
          </p:cNvPr>
          <p:cNvCxnSpPr>
            <a:stCxn id="4" idx="2"/>
            <a:endCxn id="5" idx="0"/>
          </p:cNvCxnSpPr>
          <p:nvPr/>
        </p:nvCxnSpPr>
        <p:spPr>
          <a:xfrm flipH="1">
            <a:off x="4315746" y="1399933"/>
            <a:ext cx="10017" cy="55355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5" name="Conector recto de flecha 34">
            <a:extLst>
              <a:ext uri="{FF2B5EF4-FFF2-40B4-BE49-F238E27FC236}">
                <a16:creationId xmlns:a16="http://schemas.microsoft.com/office/drawing/2014/main" id="{6A2D3488-0D82-61D4-C370-79ABE86D70EA}"/>
              </a:ext>
            </a:extLst>
          </p:cNvPr>
          <p:cNvCxnSpPr>
            <a:cxnSpLocks/>
            <a:stCxn id="5" idx="2"/>
            <a:endCxn id="6" idx="0"/>
          </p:cNvCxnSpPr>
          <p:nvPr/>
        </p:nvCxnSpPr>
        <p:spPr>
          <a:xfrm>
            <a:off x="4315746" y="2538414"/>
            <a:ext cx="0" cy="26896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8" name="Conector recto de flecha 37">
            <a:extLst>
              <a:ext uri="{FF2B5EF4-FFF2-40B4-BE49-F238E27FC236}">
                <a16:creationId xmlns:a16="http://schemas.microsoft.com/office/drawing/2014/main" id="{577CB32E-5753-2E74-0040-28FA8AEC9A23}"/>
              </a:ext>
            </a:extLst>
          </p:cNvPr>
          <p:cNvCxnSpPr>
            <a:cxnSpLocks/>
            <a:stCxn id="6" idx="2"/>
            <a:endCxn id="7" idx="0"/>
          </p:cNvCxnSpPr>
          <p:nvPr/>
        </p:nvCxnSpPr>
        <p:spPr>
          <a:xfrm flipH="1">
            <a:off x="1921418" y="3776351"/>
            <a:ext cx="2394328" cy="31688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1" name="Conector recto de flecha 40">
            <a:extLst>
              <a:ext uri="{FF2B5EF4-FFF2-40B4-BE49-F238E27FC236}">
                <a16:creationId xmlns:a16="http://schemas.microsoft.com/office/drawing/2014/main" id="{4CB80B72-49A8-7606-86FA-1ADEC12C9DDC}"/>
              </a:ext>
            </a:extLst>
          </p:cNvPr>
          <p:cNvCxnSpPr>
            <a:cxnSpLocks/>
            <a:stCxn id="6" idx="2"/>
            <a:endCxn id="55" idx="0"/>
          </p:cNvCxnSpPr>
          <p:nvPr/>
        </p:nvCxnSpPr>
        <p:spPr>
          <a:xfrm flipH="1">
            <a:off x="3688909" y="3776351"/>
            <a:ext cx="626838" cy="31424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4" name="Conector recto de flecha 43">
            <a:extLst>
              <a:ext uri="{FF2B5EF4-FFF2-40B4-BE49-F238E27FC236}">
                <a16:creationId xmlns:a16="http://schemas.microsoft.com/office/drawing/2014/main" id="{CFADDA6C-EE9F-51F8-5E0D-9501B1DE7EE2}"/>
              </a:ext>
            </a:extLst>
          </p:cNvPr>
          <p:cNvCxnSpPr>
            <a:cxnSpLocks/>
            <a:stCxn id="6" idx="2"/>
            <a:endCxn id="56" idx="0"/>
          </p:cNvCxnSpPr>
          <p:nvPr/>
        </p:nvCxnSpPr>
        <p:spPr>
          <a:xfrm>
            <a:off x="4315746" y="3776351"/>
            <a:ext cx="1458860" cy="30059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7" name="Conector recto de flecha 46">
            <a:extLst>
              <a:ext uri="{FF2B5EF4-FFF2-40B4-BE49-F238E27FC236}">
                <a16:creationId xmlns:a16="http://schemas.microsoft.com/office/drawing/2014/main" id="{24BB12FA-988F-26DE-6898-7F9B8DBA00B2}"/>
              </a:ext>
            </a:extLst>
          </p:cNvPr>
          <p:cNvCxnSpPr>
            <a:cxnSpLocks/>
            <a:stCxn id="6" idx="2"/>
            <a:endCxn id="54" idx="0"/>
          </p:cNvCxnSpPr>
          <p:nvPr/>
        </p:nvCxnSpPr>
        <p:spPr>
          <a:xfrm>
            <a:off x="4315746" y="3776356"/>
            <a:ext cx="3503898" cy="30059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0" name="Conector recto de flecha 49">
            <a:extLst>
              <a:ext uri="{FF2B5EF4-FFF2-40B4-BE49-F238E27FC236}">
                <a16:creationId xmlns:a16="http://schemas.microsoft.com/office/drawing/2014/main" id="{F3C056A5-3042-1725-3D26-7961551AA311}"/>
              </a:ext>
            </a:extLst>
          </p:cNvPr>
          <p:cNvCxnSpPr>
            <a:cxnSpLocks/>
            <a:stCxn id="7" idx="2"/>
            <a:endCxn id="8" idx="0"/>
          </p:cNvCxnSpPr>
          <p:nvPr/>
        </p:nvCxnSpPr>
        <p:spPr>
          <a:xfrm>
            <a:off x="1921418" y="5267960"/>
            <a:ext cx="2698532" cy="34864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3" name="Conector recto de flecha 52">
            <a:extLst>
              <a:ext uri="{FF2B5EF4-FFF2-40B4-BE49-F238E27FC236}">
                <a16:creationId xmlns:a16="http://schemas.microsoft.com/office/drawing/2014/main" id="{D53AEB30-4A86-7F5D-0957-049576197112}"/>
              </a:ext>
            </a:extLst>
          </p:cNvPr>
          <p:cNvCxnSpPr>
            <a:cxnSpLocks/>
            <a:stCxn id="55" idx="2"/>
            <a:endCxn id="8" idx="0"/>
          </p:cNvCxnSpPr>
          <p:nvPr/>
        </p:nvCxnSpPr>
        <p:spPr>
          <a:xfrm>
            <a:off x="3688908" y="5265326"/>
            <a:ext cx="931042" cy="35128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0" name="Conector recto de flecha 59">
            <a:extLst>
              <a:ext uri="{FF2B5EF4-FFF2-40B4-BE49-F238E27FC236}">
                <a16:creationId xmlns:a16="http://schemas.microsoft.com/office/drawing/2014/main" id="{39A36970-3AEC-2604-2837-6F091E456DB4}"/>
              </a:ext>
            </a:extLst>
          </p:cNvPr>
          <p:cNvCxnSpPr>
            <a:cxnSpLocks/>
            <a:stCxn id="56" idx="2"/>
            <a:endCxn id="8" idx="0"/>
          </p:cNvCxnSpPr>
          <p:nvPr/>
        </p:nvCxnSpPr>
        <p:spPr>
          <a:xfrm flipH="1">
            <a:off x="4619950" y="5251683"/>
            <a:ext cx="1154656" cy="36492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3" name="Conector recto de flecha 62">
            <a:extLst>
              <a:ext uri="{FF2B5EF4-FFF2-40B4-BE49-F238E27FC236}">
                <a16:creationId xmlns:a16="http://schemas.microsoft.com/office/drawing/2014/main" id="{7606B944-FC67-1E55-F64B-ACC52C2439A4}"/>
              </a:ext>
            </a:extLst>
          </p:cNvPr>
          <p:cNvCxnSpPr>
            <a:cxnSpLocks/>
            <a:stCxn id="54" idx="2"/>
            <a:endCxn id="8" idx="0"/>
          </p:cNvCxnSpPr>
          <p:nvPr/>
        </p:nvCxnSpPr>
        <p:spPr>
          <a:xfrm flipH="1">
            <a:off x="4619950" y="5251678"/>
            <a:ext cx="3199694" cy="36492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0" name="Conector recto de flecha 79">
            <a:extLst>
              <a:ext uri="{FF2B5EF4-FFF2-40B4-BE49-F238E27FC236}">
                <a16:creationId xmlns:a16="http://schemas.microsoft.com/office/drawing/2014/main" id="{43476616-F47C-B54B-3AAE-8A4B92B797F1}"/>
              </a:ext>
            </a:extLst>
          </p:cNvPr>
          <p:cNvCxnSpPr>
            <a:cxnSpLocks/>
            <a:stCxn id="8" idx="2"/>
            <a:endCxn id="9" idx="0"/>
          </p:cNvCxnSpPr>
          <p:nvPr/>
        </p:nvCxnSpPr>
        <p:spPr>
          <a:xfrm flipH="1">
            <a:off x="4614154" y="6256689"/>
            <a:ext cx="5801" cy="24134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4" name="Conector recto de flecha 83">
            <a:extLst>
              <a:ext uri="{FF2B5EF4-FFF2-40B4-BE49-F238E27FC236}">
                <a16:creationId xmlns:a16="http://schemas.microsoft.com/office/drawing/2014/main" id="{759DE491-3785-60E4-44E9-2824C17818F5}"/>
              </a:ext>
            </a:extLst>
          </p:cNvPr>
          <p:cNvCxnSpPr>
            <a:cxnSpLocks/>
            <a:stCxn id="9" idx="2"/>
            <a:endCxn id="57" idx="0"/>
          </p:cNvCxnSpPr>
          <p:nvPr/>
        </p:nvCxnSpPr>
        <p:spPr>
          <a:xfrm>
            <a:off x="4614154" y="7944342"/>
            <a:ext cx="5801" cy="16812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36" name="CuadroTexto 135">
            <a:extLst>
              <a:ext uri="{FF2B5EF4-FFF2-40B4-BE49-F238E27FC236}">
                <a16:creationId xmlns:a16="http://schemas.microsoft.com/office/drawing/2014/main" id="{8006F928-5930-EC0E-3C55-E7E6FBDDE932}"/>
              </a:ext>
            </a:extLst>
          </p:cNvPr>
          <p:cNvSpPr txBox="1"/>
          <p:nvPr/>
        </p:nvSpPr>
        <p:spPr>
          <a:xfrm rot="16200000">
            <a:off x="-1923263" y="11087726"/>
            <a:ext cx="5052538" cy="7200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txBody>
          <a:bodyPr wrap="square" rtlCol="0" anchor="ctr">
            <a:spAutoFit/>
          </a:bodyPr>
          <a:lstStyle/>
          <a:p>
            <a:pPr algn="ctr"/>
            <a:r>
              <a:rPr lang="es-ES" sz="2000" b="1" dirty="0"/>
              <a:t>Viral </a:t>
            </a:r>
            <a:r>
              <a:rPr lang="es-ES" sz="2000" b="1" dirty="0" err="1"/>
              <a:t>operational</a:t>
            </a:r>
            <a:r>
              <a:rPr lang="es-ES" sz="2000" b="1" dirty="0"/>
              <a:t> </a:t>
            </a:r>
            <a:r>
              <a:rPr lang="es-ES" sz="2000" b="1" dirty="0" err="1"/>
              <a:t>taxonomic</a:t>
            </a:r>
            <a:r>
              <a:rPr lang="es-ES" sz="2000" b="1" dirty="0"/>
              <a:t> </a:t>
            </a:r>
            <a:r>
              <a:rPr lang="es-ES" sz="2000" b="1" dirty="0" err="1"/>
              <a:t>units</a:t>
            </a:r>
            <a:r>
              <a:rPr lang="es-ES" sz="2000" b="1" dirty="0"/>
              <a:t> (</a:t>
            </a:r>
            <a:r>
              <a:rPr lang="es-ES" sz="2000" b="1" dirty="0" err="1"/>
              <a:t>vOTUS</a:t>
            </a:r>
            <a:r>
              <a:rPr lang="es-ES" sz="2000" b="1" dirty="0"/>
              <a:t>)</a:t>
            </a:r>
          </a:p>
        </p:txBody>
      </p:sp>
      <p:sp>
        <p:nvSpPr>
          <p:cNvPr id="138" name="Rounded Rectangle 11">
            <a:extLst>
              <a:ext uri="{FF2B5EF4-FFF2-40B4-BE49-F238E27FC236}">
                <a16:creationId xmlns:a16="http://schemas.microsoft.com/office/drawing/2014/main" id="{4574B0C7-F596-B70E-F4C1-9A6CCB7F50B7}"/>
              </a:ext>
            </a:extLst>
          </p:cNvPr>
          <p:cNvSpPr/>
          <p:nvPr/>
        </p:nvSpPr>
        <p:spPr>
          <a:xfrm>
            <a:off x="3345667" y="11470408"/>
            <a:ext cx="2560320" cy="1358625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latin typeface="Arial"/>
              </a:defRPr>
            </a:pPr>
            <a:r>
              <a:rPr sz="1800" b="1" dirty="0" err="1">
                <a:solidFill>
                  <a:schemeClr val="tx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vOTU</a:t>
            </a:r>
            <a:endParaRPr sz="1800" b="1" dirty="0">
              <a:solidFill>
                <a:schemeClr val="tx1"/>
              </a:solidFill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  <a:p>
            <a:pPr algn="ctr"/>
            <a:r>
              <a:rPr lang="es-ES" sz="1800" dirty="0">
                <a:solidFill>
                  <a:srgbClr val="FF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##</a:t>
            </a:r>
            <a:r>
              <a:rPr sz="1800" dirty="0">
                <a:solidFill>
                  <a:schemeClr val="tx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 (&lt;1 kb)</a:t>
            </a:r>
          </a:p>
          <a:p>
            <a:pPr algn="ctr"/>
            <a:r>
              <a:rPr lang="es-ES" sz="1800" dirty="0">
                <a:solidFill>
                  <a:srgbClr val="FF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##</a:t>
            </a:r>
            <a:r>
              <a:rPr sz="1800" dirty="0">
                <a:solidFill>
                  <a:schemeClr val="tx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 (≥5 kb)</a:t>
            </a:r>
          </a:p>
          <a:p>
            <a:pPr algn="ctr"/>
            <a:r>
              <a:rPr lang="es-ES" sz="1800" dirty="0">
                <a:solidFill>
                  <a:srgbClr val="FF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##</a:t>
            </a:r>
            <a:r>
              <a:rPr sz="1800" dirty="0">
                <a:solidFill>
                  <a:schemeClr val="tx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 (≥10 kb)</a:t>
            </a:r>
            <a:endParaRPr lang="es-ES" sz="1800" dirty="0">
              <a:solidFill>
                <a:schemeClr val="tx1"/>
              </a:solidFill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139" name="Rounded Rectangle 11">
            <a:extLst>
              <a:ext uri="{FF2B5EF4-FFF2-40B4-BE49-F238E27FC236}">
                <a16:creationId xmlns:a16="http://schemas.microsoft.com/office/drawing/2014/main" id="{CEA40D73-E137-0AEF-DCD8-4B3D83C60303}"/>
              </a:ext>
            </a:extLst>
          </p:cNvPr>
          <p:cNvSpPr/>
          <p:nvPr/>
        </p:nvSpPr>
        <p:spPr>
          <a:xfrm>
            <a:off x="1091812" y="9106776"/>
            <a:ext cx="1990411" cy="3588833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latin typeface="Arial"/>
              </a:defRPr>
            </a:pPr>
            <a:r>
              <a:rPr lang="es-ES" sz="1800" b="1" dirty="0" err="1">
                <a:solidFill>
                  <a:schemeClr val="tx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Filtering</a:t>
            </a:r>
            <a:r>
              <a:rPr lang="es-ES" sz="1800" b="1" dirty="0">
                <a:solidFill>
                  <a:schemeClr val="tx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 3</a:t>
            </a:r>
          </a:p>
          <a:p>
            <a:pPr algn="ctr">
              <a:defRPr sz="1000">
                <a:latin typeface="Arial"/>
              </a:defRPr>
            </a:pPr>
            <a:r>
              <a:rPr lang="es-ES" sz="1400" dirty="0" err="1">
                <a:solidFill>
                  <a:schemeClr val="tx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Curation</a:t>
            </a:r>
            <a:r>
              <a:rPr lang="es-ES" sz="1400" dirty="0">
                <a:solidFill>
                  <a:schemeClr val="tx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 </a:t>
            </a:r>
            <a:r>
              <a:rPr lang="es-ES" sz="1400" dirty="0" err="1">
                <a:solidFill>
                  <a:schemeClr val="tx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filter</a:t>
            </a:r>
            <a:r>
              <a:rPr lang="es-ES" sz="1400" dirty="0">
                <a:solidFill>
                  <a:schemeClr val="tx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 </a:t>
            </a:r>
            <a:r>
              <a:rPr lang="es-ES" sz="1400" dirty="0" err="1">
                <a:solidFill>
                  <a:schemeClr val="tx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to</a:t>
            </a:r>
            <a:r>
              <a:rPr lang="es-ES" sz="1400" dirty="0">
                <a:solidFill>
                  <a:schemeClr val="tx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 </a:t>
            </a:r>
            <a:r>
              <a:rPr lang="es-ES" sz="1400" dirty="0" err="1">
                <a:solidFill>
                  <a:schemeClr val="tx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vOTUs</a:t>
            </a:r>
            <a:r>
              <a:rPr lang="es-ES" sz="1400" dirty="0">
                <a:solidFill>
                  <a:schemeClr val="tx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 ≥100 kb</a:t>
            </a:r>
          </a:p>
          <a:p>
            <a:pPr algn="ctr">
              <a:defRPr sz="1000">
                <a:latin typeface="Arial"/>
              </a:defRPr>
            </a:pPr>
            <a:r>
              <a:rPr lang="es-ES" sz="1400" dirty="0" err="1">
                <a:solidFill>
                  <a:schemeClr val="tx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Remove</a:t>
            </a:r>
            <a:r>
              <a:rPr lang="es-ES" sz="1400" dirty="0">
                <a:solidFill>
                  <a:schemeClr val="tx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 putative</a:t>
            </a:r>
          </a:p>
          <a:p>
            <a:pPr algn="ctr">
              <a:defRPr sz="1000">
                <a:latin typeface="Arial"/>
              </a:defRPr>
            </a:pPr>
            <a:r>
              <a:rPr lang="es-ES" sz="1400" dirty="0" err="1">
                <a:solidFill>
                  <a:schemeClr val="tx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genomic</a:t>
            </a:r>
            <a:r>
              <a:rPr lang="es-ES" sz="1400" dirty="0">
                <a:solidFill>
                  <a:schemeClr val="tx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 </a:t>
            </a:r>
            <a:r>
              <a:rPr lang="es-ES" sz="1400" dirty="0" err="1">
                <a:solidFill>
                  <a:schemeClr val="tx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islands</a:t>
            </a:r>
            <a:r>
              <a:rPr lang="es-ES" sz="1400" dirty="0">
                <a:solidFill>
                  <a:schemeClr val="tx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/</a:t>
            </a:r>
            <a:r>
              <a:rPr lang="es-ES" sz="1400" dirty="0" err="1">
                <a:solidFill>
                  <a:schemeClr val="tx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mobile</a:t>
            </a:r>
            <a:r>
              <a:rPr lang="es-ES" sz="1400" dirty="0">
                <a:solidFill>
                  <a:schemeClr val="tx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 </a:t>
            </a:r>
            <a:r>
              <a:rPr lang="es-ES" sz="1400" dirty="0" err="1">
                <a:solidFill>
                  <a:schemeClr val="tx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elements</a:t>
            </a:r>
            <a:endParaRPr lang="es-ES" sz="1400" dirty="0">
              <a:solidFill>
                <a:schemeClr val="tx1"/>
              </a:solidFill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  <a:p>
            <a:pPr algn="ctr">
              <a:defRPr sz="1000">
                <a:latin typeface="Arial"/>
              </a:defRPr>
            </a:pPr>
            <a:r>
              <a:rPr lang="es-ES" sz="1400" dirty="0" err="1">
                <a:solidFill>
                  <a:schemeClr val="tx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Exclude</a:t>
            </a:r>
            <a:r>
              <a:rPr lang="es-ES" sz="1400" dirty="0">
                <a:solidFill>
                  <a:schemeClr val="tx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 </a:t>
            </a:r>
            <a:r>
              <a:rPr lang="es-ES" sz="1400" dirty="0" err="1">
                <a:solidFill>
                  <a:schemeClr val="tx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contigs</a:t>
            </a:r>
            <a:r>
              <a:rPr lang="es-ES" sz="1400" dirty="0">
                <a:solidFill>
                  <a:schemeClr val="tx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 </a:t>
            </a:r>
            <a:r>
              <a:rPr lang="es-ES" sz="1400" dirty="0" err="1">
                <a:solidFill>
                  <a:schemeClr val="tx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with</a:t>
            </a:r>
            <a:r>
              <a:rPr lang="es-ES" sz="1400" dirty="0">
                <a:solidFill>
                  <a:schemeClr val="tx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:</a:t>
            </a:r>
          </a:p>
          <a:p>
            <a:pPr algn="ctr">
              <a:defRPr sz="1000">
                <a:latin typeface="Arial"/>
              </a:defRPr>
            </a:pPr>
            <a:r>
              <a:rPr lang="es-ES" sz="1400" dirty="0">
                <a:solidFill>
                  <a:schemeClr val="tx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- </a:t>
            </a:r>
            <a:r>
              <a:rPr lang="es-ES" sz="1400" dirty="0" err="1">
                <a:solidFill>
                  <a:schemeClr val="tx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transposons</a:t>
            </a:r>
            <a:endParaRPr lang="es-ES" sz="1400" dirty="0">
              <a:solidFill>
                <a:schemeClr val="tx1"/>
              </a:solidFill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  <a:p>
            <a:pPr algn="ctr">
              <a:defRPr sz="1000">
                <a:latin typeface="Arial"/>
              </a:defRPr>
            </a:pPr>
            <a:r>
              <a:rPr lang="es-ES" sz="1400" dirty="0">
                <a:solidFill>
                  <a:schemeClr val="tx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- LPS genes</a:t>
            </a:r>
          </a:p>
          <a:p>
            <a:pPr algn="ctr">
              <a:defRPr sz="1000">
                <a:latin typeface="Arial"/>
              </a:defRPr>
            </a:pPr>
            <a:r>
              <a:rPr lang="es-ES" sz="1400" dirty="0">
                <a:solidFill>
                  <a:schemeClr val="tx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- integrases</a:t>
            </a:r>
          </a:p>
          <a:p>
            <a:pPr algn="ctr">
              <a:defRPr sz="1000">
                <a:latin typeface="Arial"/>
              </a:defRPr>
            </a:pPr>
            <a:r>
              <a:rPr lang="es-ES" sz="1400" dirty="0">
                <a:solidFill>
                  <a:schemeClr val="tx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- </a:t>
            </a:r>
            <a:r>
              <a:rPr lang="es-ES" sz="1400" dirty="0" err="1">
                <a:solidFill>
                  <a:schemeClr val="tx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endonucleases</a:t>
            </a:r>
            <a:endParaRPr lang="es-ES" sz="1400" dirty="0">
              <a:solidFill>
                <a:schemeClr val="tx1"/>
              </a:solidFill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  <a:p>
            <a:pPr algn="ctr">
              <a:defRPr sz="1000">
                <a:latin typeface="Arial"/>
              </a:defRPr>
            </a:pPr>
            <a:r>
              <a:rPr lang="es-ES" sz="1400" dirty="0">
                <a:solidFill>
                  <a:schemeClr val="tx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- </a:t>
            </a:r>
            <a:r>
              <a:rPr lang="es-ES" sz="1400" dirty="0" err="1">
                <a:solidFill>
                  <a:schemeClr val="tx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plasmid</a:t>
            </a:r>
            <a:r>
              <a:rPr lang="es-ES" sz="1400" dirty="0">
                <a:solidFill>
                  <a:schemeClr val="tx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 </a:t>
            </a:r>
            <a:r>
              <a:rPr lang="es-ES" sz="1400" dirty="0" err="1">
                <a:solidFill>
                  <a:schemeClr val="tx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stability</a:t>
            </a:r>
            <a:r>
              <a:rPr lang="es-ES" sz="1400" dirty="0">
                <a:solidFill>
                  <a:schemeClr val="tx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 genes</a:t>
            </a:r>
            <a:endParaRPr sz="1400" dirty="0">
              <a:solidFill>
                <a:schemeClr val="tx1"/>
              </a:solidFill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cxnSp>
        <p:nvCxnSpPr>
          <p:cNvPr id="141" name="Conector recto de flecha 140">
            <a:extLst>
              <a:ext uri="{FF2B5EF4-FFF2-40B4-BE49-F238E27FC236}">
                <a16:creationId xmlns:a16="http://schemas.microsoft.com/office/drawing/2014/main" id="{C33B37A3-AFDB-5E67-1DBA-C094889C16A6}"/>
              </a:ext>
            </a:extLst>
          </p:cNvPr>
          <p:cNvCxnSpPr>
            <a:cxnSpLocks/>
            <a:stCxn id="12" idx="1"/>
            <a:endCxn id="139" idx="3"/>
          </p:cNvCxnSpPr>
          <p:nvPr/>
        </p:nvCxnSpPr>
        <p:spPr>
          <a:xfrm flipH="1">
            <a:off x="3082223" y="10804029"/>
            <a:ext cx="257567" cy="9716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7" name="Conector recto de flecha 146">
            <a:extLst>
              <a:ext uri="{FF2B5EF4-FFF2-40B4-BE49-F238E27FC236}">
                <a16:creationId xmlns:a16="http://schemas.microsoft.com/office/drawing/2014/main" id="{1E12B703-2B72-4E0E-6C6F-EBEDDA6EA928}"/>
              </a:ext>
            </a:extLst>
          </p:cNvPr>
          <p:cNvCxnSpPr>
            <a:cxnSpLocks/>
            <a:stCxn id="139" idx="3"/>
            <a:endCxn id="138" idx="1"/>
          </p:cNvCxnSpPr>
          <p:nvPr/>
        </p:nvCxnSpPr>
        <p:spPr>
          <a:xfrm>
            <a:off x="3082223" y="10901193"/>
            <a:ext cx="263444" cy="124852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60" name="Conector recto de flecha 159">
            <a:extLst>
              <a:ext uri="{FF2B5EF4-FFF2-40B4-BE49-F238E27FC236}">
                <a16:creationId xmlns:a16="http://schemas.microsoft.com/office/drawing/2014/main" id="{3848B8B7-5761-9676-12C4-F6E8133B5296}"/>
              </a:ext>
            </a:extLst>
          </p:cNvPr>
          <p:cNvCxnSpPr>
            <a:cxnSpLocks/>
            <a:stCxn id="57" idx="2"/>
          </p:cNvCxnSpPr>
          <p:nvPr/>
        </p:nvCxnSpPr>
        <p:spPr>
          <a:xfrm>
            <a:off x="4619950" y="8752550"/>
            <a:ext cx="0" cy="14922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67" name="CuadroTexto 166">
            <a:extLst>
              <a:ext uri="{FF2B5EF4-FFF2-40B4-BE49-F238E27FC236}">
                <a16:creationId xmlns:a16="http://schemas.microsoft.com/office/drawing/2014/main" id="{9BB80067-452E-62C5-7375-D6D36857CC5A}"/>
              </a:ext>
            </a:extLst>
          </p:cNvPr>
          <p:cNvSpPr txBox="1"/>
          <p:nvPr/>
        </p:nvSpPr>
        <p:spPr>
          <a:xfrm rot="16200000">
            <a:off x="13560028" y="2508191"/>
            <a:ext cx="4866259" cy="648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 rtlCol="0" anchor="ctr">
            <a:spAutoFit/>
          </a:bodyPr>
          <a:lstStyle/>
          <a:p>
            <a:pPr algn="ctr"/>
            <a:r>
              <a:rPr lang="es-ES" sz="2000" b="1" dirty="0" err="1"/>
              <a:t>MAGs</a:t>
            </a:r>
            <a:r>
              <a:rPr lang="es-ES" sz="2000" b="1" dirty="0"/>
              <a:t> </a:t>
            </a:r>
            <a:r>
              <a:rPr lang="es-ES" sz="2000" b="1" dirty="0" err="1"/>
              <a:t>generation</a:t>
            </a:r>
            <a:endParaRPr lang="es-ES" sz="2000" b="1" dirty="0"/>
          </a:p>
        </p:txBody>
      </p:sp>
      <p:cxnSp>
        <p:nvCxnSpPr>
          <p:cNvPr id="169" name="Conector recto de flecha 168">
            <a:extLst>
              <a:ext uri="{FF2B5EF4-FFF2-40B4-BE49-F238E27FC236}">
                <a16:creationId xmlns:a16="http://schemas.microsoft.com/office/drawing/2014/main" id="{015BE50C-A934-718E-2FF0-F664E94C2C19}"/>
              </a:ext>
            </a:extLst>
          </p:cNvPr>
          <p:cNvCxnSpPr>
            <a:cxnSpLocks/>
            <a:stCxn id="6" idx="3"/>
            <a:endCxn id="13" idx="1"/>
          </p:cNvCxnSpPr>
          <p:nvPr/>
        </p:nvCxnSpPr>
        <p:spPr>
          <a:xfrm flipV="1">
            <a:off x="5832584" y="962557"/>
            <a:ext cx="2875208" cy="232931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76" name="Rounded Rectangle 13">
            <a:extLst>
              <a:ext uri="{FF2B5EF4-FFF2-40B4-BE49-F238E27FC236}">
                <a16:creationId xmlns:a16="http://schemas.microsoft.com/office/drawing/2014/main" id="{F1803045-C549-6A03-9867-6A0650AA14B3}"/>
              </a:ext>
            </a:extLst>
          </p:cNvPr>
          <p:cNvSpPr/>
          <p:nvPr/>
        </p:nvSpPr>
        <p:spPr>
          <a:xfrm>
            <a:off x="8677529" y="4060364"/>
            <a:ext cx="3199694" cy="1391564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latin typeface="Arial"/>
              </a:defRPr>
            </a:pPr>
            <a:r>
              <a:rPr sz="1800" b="1" dirty="0">
                <a:solidFill>
                  <a:schemeClr val="tx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Binning</a:t>
            </a:r>
            <a:r>
              <a:rPr lang="es-ES" sz="1800" b="1" dirty="0">
                <a:solidFill>
                  <a:schemeClr val="tx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 </a:t>
            </a:r>
            <a:r>
              <a:rPr lang="es-ES" sz="1800" b="1" dirty="0" err="1">
                <a:solidFill>
                  <a:schemeClr val="tx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refinement</a:t>
            </a:r>
            <a:endParaRPr lang="es-ES" sz="1800" b="1" dirty="0">
              <a:solidFill>
                <a:schemeClr val="tx1"/>
              </a:solidFill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  <a:p>
            <a:pPr algn="ctr">
              <a:defRPr sz="1000">
                <a:latin typeface="Arial"/>
              </a:defRPr>
            </a:pPr>
            <a:r>
              <a:rPr lang="es-ES" sz="1800" dirty="0">
                <a:solidFill>
                  <a:schemeClr val="tx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 </a:t>
            </a:r>
            <a:r>
              <a:rPr lang="es-ES" sz="1800" dirty="0" err="1">
                <a:solidFill>
                  <a:schemeClr val="tx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MetaWRAP</a:t>
            </a:r>
            <a:r>
              <a:rPr lang="es-ES" sz="1800" dirty="0">
                <a:solidFill>
                  <a:schemeClr val="tx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: </a:t>
            </a:r>
            <a:r>
              <a:rPr lang="es-ES" sz="1800" dirty="0" err="1">
                <a:solidFill>
                  <a:schemeClr val="tx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filters</a:t>
            </a:r>
            <a:r>
              <a:rPr lang="es-ES" sz="1800" dirty="0">
                <a:solidFill>
                  <a:schemeClr val="tx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 -c 50 -x 10</a:t>
            </a:r>
          </a:p>
          <a:p>
            <a:pPr algn="ctr">
              <a:defRPr sz="1000">
                <a:latin typeface="Arial"/>
              </a:defRPr>
            </a:pPr>
            <a:r>
              <a:rPr lang="es-ES" sz="1800" b="1" dirty="0" err="1">
                <a:solidFill>
                  <a:schemeClr val="tx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Dereplication</a:t>
            </a:r>
            <a:r>
              <a:rPr lang="es-ES" sz="1600" b="1" dirty="0">
                <a:solidFill>
                  <a:schemeClr val="tx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: </a:t>
            </a:r>
            <a:r>
              <a:rPr lang="es-ES" sz="1600" dirty="0" err="1">
                <a:solidFill>
                  <a:schemeClr val="tx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dRep</a:t>
            </a:r>
            <a:endParaRPr lang="es-ES" sz="1600" dirty="0">
              <a:solidFill>
                <a:schemeClr val="tx1"/>
              </a:solidFill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  <a:p>
            <a:pPr algn="ctr">
              <a:defRPr sz="1000">
                <a:latin typeface="Arial"/>
              </a:defRPr>
            </a:pPr>
            <a:endParaRPr lang="es-ES" sz="1800" dirty="0">
              <a:solidFill>
                <a:schemeClr val="tx1"/>
              </a:solidFill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177" name="Rounded Rectangle 20">
            <a:extLst>
              <a:ext uri="{FF2B5EF4-FFF2-40B4-BE49-F238E27FC236}">
                <a16:creationId xmlns:a16="http://schemas.microsoft.com/office/drawing/2014/main" id="{6224B373-21B6-B113-C6E3-E9E11C6E9D83}"/>
              </a:ext>
            </a:extLst>
          </p:cNvPr>
          <p:cNvSpPr/>
          <p:nvPr/>
        </p:nvSpPr>
        <p:spPr>
          <a:xfrm>
            <a:off x="12821875" y="4341901"/>
            <a:ext cx="2015052" cy="866464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latin typeface="Arial"/>
              </a:defRPr>
            </a:pPr>
            <a:r>
              <a:rPr lang="es-ES" sz="1800" b="1" dirty="0" err="1">
                <a:solidFill>
                  <a:schemeClr val="tx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Taxonomy</a:t>
            </a:r>
            <a:endParaRPr sz="1800" b="1" dirty="0">
              <a:solidFill>
                <a:schemeClr val="tx1"/>
              </a:solidFill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  <a:p>
            <a:pPr algn="ctr"/>
            <a:r>
              <a:rPr lang="es-ES" sz="1800" dirty="0" err="1">
                <a:solidFill>
                  <a:schemeClr val="tx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GTDBtk</a:t>
            </a:r>
            <a:endParaRPr sz="1800" dirty="0">
              <a:solidFill>
                <a:schemeClr val="tx1"/>
              </a:solidFill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cxnSp>
        <p:nvCxnSpPr>
          <p:cNvPr id="180" name="Conector recto de flecha 179">
            <a:extLst>
              <a:ext uri="{FF2B5EF4-FFF2-40B4-BE49-F238E27FC236}">
                <a16:creationId xmlns:a16="http://schemas.microsoft.com/office/drawing/2014/main" id="{E93A531C-4CD1-A3B5-C093-2935E6FB707C}"/>
              </a:ext>
            </a:extLst>
          </p:cNvPr>
          <p:cNvCxnSpPr>
            <a:cxnSpLocks/>
            <a:stCxn id="13" idx="2"/>
            <a:endCxn id="14" idx="0"/>
          </p:cNvCxnSpPr>
          <p:nvPr/>
        </p:nvCxnSpPr>
        <p:spPr>
          <a:xfrm flipH="1">
            <a:off x="10277376" y="1532602"/>
            <a:ext cx="4764" cy="30582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3" name="Conector recto de flecha 182">
            <a:extLst>
              <a:ext uri="{FF2B5EF4-FFF2-40B4-BE49-F238E27FC236}">
                <a16:creationId xmlns:a16="http://schemas.microsoft.com/office/drawing/2014/main" id="{57BC5D79-5449-0FBE-B613-B012DA3A00A9}"/>
              </a:ext>
            </a:extLst>
          </p:cNvPr>
          <p:cNvCxnSpPr>
            <a:cxnSpLocks/>
            <a:stCxn id="14" idx="2"/>
            <a:endCxn id="176" idx="0"/>
          </p:cNvCxnSpPr>
          <p:nvPr/>
        </p:nvCxnSpPr>
        <p:spPr>
          <a:xfrm flipH="1">
            <a:off x="10277379" y="3832831"/>
            <a:ext cx="1" cy="22753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85" name="Rounded Rectangle 20">
            <a:extLst>
              <a:ext uri="{FF2B5EF4-FFF2-40B4-BE49-F238E27FC236}">
                <a16:creationId xmlns:a16="http://schemas.microsoft.com/office/drawing/2014/main" id="{A1E83822-BB0B-1740-58A4-8B3AC7397E19}"/>
              </a:ext>
            </a:extLst>
          </p:cNvPr>
          <p:cNvSpPr/>
          <p:nvPr/>
        </p:nvSpPr>
        <p:spPr>
          <a:xfrm>
            <a:off x="12123016" y="392507"/>
            <a:ext cx="3396423" cy="2645700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latin typeface="Arial"/>
              </a:defRPr>
            </a:pPr>
            <a:r>
              <a:rPr lang="es-ES" sz="1800" b="1" dirty="0">
                <a:solidFill>
                  <a:schemeClr val="tx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Final </a:t>
            </a:r>
            <a:r>
              <a:rPr lang="es-ES" sz="1800" b="1" dirty="0" err="1">
                <a:solidFill>
                  <a:schemeClr val="tx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refinements</a:t>
            </a:r>
            <a:endParaRPr sz="1800" b="1" dirty="0">
              <a:solidFill>
                <a:schemeClr val="tx1"/>
              </a:solidFill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  <a:p>
            <a:r>
              <a:rPr lang="es-ES" sz="1600" dirty="0">
                <a:solidFill>
                  <a:schemeClr val="tx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(i) QS = </a:t>
            </a:r>
            <a:r>
              <a:rPr lang="es-ES" sz="1600" dirty="0" err="1">
                <a:solidFill>
                  <a:schemeClr val="tx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completeness</a:t>
            </a:r>
            <a:r>
              <a:rPr lang="es-ES" sz="1600" dirty="0">
                <a:solidFill>
                  <a:schemeClr val="tx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 − (5 × </a:t>
            </a:r>
            <a:r>
              <a:rPr lang="es-ES" sz="1600" dirty="0" err="1">
                <a:solidFill>
                  <a:schemeClr val="tx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contamination</a:t>
            </a:r>
            <a:r>
              <a:rPr lang="es-ES" sz="1600" dirty="0">
                <a:solidFill>
                  <a:schemeClr val="tx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)</a:t>
            </a:r>
          </a:p>
          <a:p>
            <a:r>
              <a:rPr lang="es-ES" sz="1600" dirty="0" err="1">
                <a:solidFill>
                  <a:schemeClr val="tx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Remove</a:t>
            </a:r>
            <a:r>
              <a:rPr lang="es-ES" sz="1600" dirty="0">
                <a:solidFill>
                  <a:schemeClr val="tx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 </a:t>
            </a:r>
            <a:r>
              <a:rPr lang="es-ES" sz="1600" dirty="0" err="1">
                <a:solidFill>
                  <a:schemeClr val="tx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bins</a:t>
            </a:r>
            <a:r>
              <a:rPr lang="es-ES" sz="1600" dirty="0">
                <a:solidFill>
                  <a:schemeClr val="tx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 </a:t>
            </a:r>
            <a:r>
              <a:rPr lang="es-ES" sz="1600" dirty="0" err="1">
                <a:solidFill>
                  <a:schemeClr val="tx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with</a:t>
            </a:r>
            <a:r>
              <a:rPr lang="es-ES" sz="1600" dirty="0">
                <a:solidFill>
                  <a:schemeClr val="tx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 QS &lt; 50</a:t>
            </a:r>
          </a:p>
          <a:p>
            <a:r>
              <a:rPr lang="es-ES" sz="1600" dirty="0">
                <a:solidFill>
                  <a:schemeClr val="tx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(</a:t>
            </a:r>
            <a:r>
              <a:rPr lang="es-ES" sz="1600" dirty="0" err="1">
                <a:solidFill>
                  <a:schemeClr val="tx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ii</a:t>
            </a:r>
            <a:r>
              <a:rPr lang="es-ES" sz="1600" dirty="0">
                <a:solidFill>
                  <a:schemeClr val="tx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) High-</a:t>
            </a:r>
            <a:r>
              <a:rPr lang="es-ES" sz="1600" dirty="0" err="1">
                <a:solidFill>
                  <a:schemeClr val="tx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quality</a:t>
            </a:r>
            <a:r>
              <a:rPr lang="es-ES" sz="1600" dirty="0">
                <a:solidFill>
                  <a:schemeClr val="tx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 </a:t>
            </a:r>
            <a:r>
              <a:rPr lang="es-ES" sz="1600" dirty="0" err="1">
                <a:solidFill>
                  <a:schemeClr val="tx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MAGs</a:t>
            </a:r>
            <a:endParaRPr lang="es-ES" sz="1600" dirty="0">
              <a:solidFill>
                <a:schemeClr val="tx1"/>
              </a:solidFill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  <a:p>
            <a:r>
              <a:rPr lang="es-ES" sz="1600" dirty="0" err="1">
                <a:solidFill>
                  <a:schemeClr val="tx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Completeness</a:t>
            </a:r>
            <a:r>
              <a:rPr lang="es-ES" sz="1600" dirty="0">
                <a:solidFill>
                  <a:schemeClr val="tx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 ≥90%</a:t>
            </a:r>
          </a:p>
          <a:p>
            <a:r>
              <a:rPr lang="es-ES" sz="1600" dirty="0" err="1">
                <a:solidFill>
                  <a:schemeClr val="tx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Contamination</a:t>
            </a:r>
            <a:r>
              <a:rPr lang="es-ES" sz="1600" dirty="0">
                <a:solidFill>
                  <a:schemeClr val="tx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 ≤5%</a:t>
            </a:r>
          </a:p>
          <a:p>
            <a:r>
              <a:rPr lang="es-ES" sz="1600" dirty="0">
                <a:solidFill>
                  <a:schemeClr val="tx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(</a:t>
            </a:r>
            <a:r>
              <a:rPr lang="es-ES" sz="1600" dirty="0" err="1">
                <a:solidFill>
                  <a:schemeClr val="tx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iii</a:t>
            </a:r>
            <a:r>
              <a:rPr lang="es-ES" sz="1600" dirty="0">
                <a:solidFill>
                  <a:schemeClr val="tx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) Medium-</a:t>
            </a:r>
            <a:r>
              <a:rPr lang="es-ES" sz="1600" dirty="0" err="1">
                <a:solidFill>
                  <a:schemeClr val="tx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quality</a:t>
            </a:r>
            <a:r>
              <a:rPr lang="es-ES" sz="1600" dirty="0">
                <a:solidFill>
                  <a:schemeClr val="tx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 </a:t>
            </a:r>
            <a:r>
              <a:rPr lang="es-ES" sz="1600" dirty="0" err="1">
                <a:solidFill>
                  <a:schemeClr val="tx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MAGs</a:t>
            </a:r>
            <a:endParaRPr lang="es-ES" sz="1600" dirty="0">
              <a:solidFill>
                <a:schemeClr val="tx1"/>
              </a:solidFill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  <a:p>
            <a:r>
              <a:rPr lang="es-ES" sz="1600" dirty="0" err="1">
                <a:solidFill>
                  <a:schemeClr val="tx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Completeness</a:t>
            </a:r>
            <a:r>
              <a:rPr lang="es-ES" sz="1600" dirty="0">
                <a:solidFill>
                  <a:schemeClr val="tx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 &gt;50%</a:t>
            </a:r>
          </a:p>
          <a:p>
            <a:r>
              <a:rPr lang="es-ES" sz="1600" dirty="0" err="1">
                <a:solidFill>
                  <a:schemeClr val="tx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Contamination</a:t>
            </a:r>
            <a:r>
              <a:rPr lang="es-ES" sz="1600" dirty="0">
                <a:solidFill>
                  <a:schemeClr val="tx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 ≤10%</a:t>
            </a:r>
            <a:endParaRPr sz="1600" dirty="0">
              <a:solidFill>
                <a:schemeClr val="tx1"/>
              </a:solidFill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cxnSp>
        <p:nvCxnSpPr>
          <p:cNvPr id="187" name="Conector recto de flecha 186">
            <a:extLst>
              <a:ext uri="{FF2B5EF4-FFF2-40B4-BE49-F238E27FC236}">
                <a16:creationId xmlns:a16="http://schemas.microsoft.com/office/drawing/2014/main" id="{CB0780B8-554E-1EBF-7B9A-8DD4D2312C31}"/>
              </a:ext>
            </a:extLst>
          </p:cNvPr>
          <p:cNvCxnSpPr>
            <a:cxnSpLocks/>
            <a:stCxn id="176" idx="3"/>
            <a:endCxn id="185" idx="1"/>
          </p:cNvCxnSpPr>
          <p:nvPr/>
        </p:nvCxnSpPr>
        <p:spPr>
          <a:xfrm flipV="1">
            <a:off x="11877222" y="1715361"/>
            <a:ext cx="245790" cy="304078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0" name="Conector recto de flecha 189">
            <a:extLst>
              <a:ext uri="{FF2B5EF4-FFF2-40B4-BE49-F238E27FC236}">
                <a16:creationId xmlns:a16="http://schemas.microsoft.com/office/drawing/2014/main" id="{42D57AC8-997B-4B14-44F0-2AE754A4B01F}"/>
              </a:ext>
            </a:extLst>
          </p:cNvPr>
          <p:cNvCxnSpPr>
            <a:cxnSpLocks/>
            <a:stCxn id="185" idx="2"/>
            <a:endCxn id="21" idx="0"/>
          </p:cNvCxnSpPr>
          <p:nvPr/>
        </p:nvCxnSpPr>
        <p:spPr>
          <a:xfrm>
            <a:off x="13821228" y="3038211"/>
            <a:ext cx="8177" cy="21861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4" name="Conector recto de flecha 193">
            <a:extLst>
              <a:ext uri="{FF2B5EF4-FFF2-40B4-BE49-F238E27FC236}">
                <a16:creationId xmlns:a16="http://schemas.microsoft.com/office/drawing/2014/main" id="{B4DF73D4-DFD6-22C5-99E4-EA3AF1B893BA}"/>
              </a:ext>
            </a:extLst>
          </p:cNvPr>
          <p:cNvCxnSpPr>
            <a:cxnSpLocks/>
            <a:stCxn id="21" idx="2"/>
            <a:endCxn id="177" idx="0"/>
          </p:cNvCxnSpPr>
          <p:nvPr/>
        </p:nvCxnSpPr>
        <p:spPr>
          <a:xfrm>
            <a:off x="13829401" y="4123290"/>
            <a:ext cx="0" cy="21861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45" name="CuadroTexto 244">
            <a:extLst>
              <a:ext uri="{FF2B5EF4-FFF2-40B4-BE49-F238E27FC236}">
                <a16:creationId xmlns:a16="http://schemas.microsoft.com/office/drawing/2014/main" id="{FA984B4A-FF8C-199E-D364-2A1CFAA675D3}"/>
              </a:ext>
            </a:extLst>
          </p:cNvPr>
          <p:cNvSpPr txBox="1"/>
          <p:nvPr/>
        </p:nvSpPr>
        <p:spPr>
          <a:xfrm rot="16200000">
            <a:off x="14780364" y="6397643"/>
            <a:ext cx="2471147" cy="648000"/>
          </a:xfrm>
          <a:prstGeom prst="rect">
            <a:avLst/>
          </a:prstGeom>
          <a:solidFill>
            <a:srgbClr val="FDB8FA"/>
          </a:solidFill>
          <a:ln>
            <a:noFill/>
          </a:ln>
        </p:spPr>
        <p:txBody>
          <a:bodyPr wrap="square" rtlCol="0" anchor="ctr">
            <a:spAutoFit/>
          </a:bodyPr>
          <a:lstStyle/>
          <a:p>
            <a:pPr algn="ctr"/>
            <a:r>
              <a:rPr lang="es-ES" sz="2000" b="1" dirty="0" err="1"/>
              <a:t>Ecological</a:t>
            </a:r>
            <a:r>
              <a:rPr lang="es-ES" sz="2000" b="1" dirty="0"/>
              <a:t> </a:t>
            </a:r>
            <a:r>
              <a:rPr lang="es-ES" sz="2000" b="1" dirty="0" err="1"/>
              <a:t>analysis</a:t>
            </a:r>
            <a:endParaRPr lang="es-ES" sz="2000" b="1" dirty="0"/>
          </a:p>
        </p:txBody>
      </p:sp>
      <p:sp>
        <p:nvSpPr>
          <p:cNvPr id="248" name="Rounded Rectangle 16">
            <a:extLst>
              <a:ext uri="{FF2B5EF4-FFF2-40B4-BE49-F238E27FC236}">
                <a16:creationId xmlns:a16="http://schemas.microsoft.com/office/drawing/2014/main" id="{83C790F0-05CA-81F2-66E6-2A41CE3A65EC}"/>
              </a:ext>
            </a:extLst>
          </p:cNvPr>
          <p:cNvSpPr/>
          <p:nvPr/>
        </p:nvSpPr>
        <p:spPr>
          <a:xfrm>
            <a:off x="12304160" y="5636566"/>
            <a:ext cx="2816352" cy="768096"/>
          </a:xfrm>
          <a:prstGeom prst="roundRect">
            <a:avLst/>
          </a:prstGeom>
          <a:solidFill>
            <a:srgbClr val="FDB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latin typeface="Arial"/>
              </a:defRPr>
            </a:pPr>
            <a:r>
              <a:rPr lang="es-ES" sz="1800" b="1" dirty="0" err="1">
                <a:solidFill>
                  <a:schemeClr val="tx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vOTU</a:t>
            </a:r>
            <a:endParaRPr sz="1800" b="1" dirty="0">
              <a:solidFill>
                <a:schemeClr val="tx1"/>
              </a:solidFill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  <a:p>
            <a:pPr algn="ctr"/>
            <a:r>
              <a:rPr lang="es-ES" sz="1800" dirty="0">
                <a:solidFill>
                  <a:schemeClr val="tx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table</a:t>
            </a:r>
            <a:endParaRPr sz="1800" dirty="0">
              <a:solidFill>
                <a:schemeClr val="tx1"/>
              </a:solidFill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249" name="Rounded Rectangle 23">
            <a:extLst>
              <a:ext uri="{FF2B5EF4-FFF2-40B4-BE49-F238E27FC236}">
                <a16:creationId xmlns:a16="http://schemas.microsoft.com/office/drawing/2014/main" id="{137EAE52-1E93-7815-DF13-07F33262EDB7}"/>
              </a:ext>
            </a:extLst>
          </p:cNvPr>
          <p:cNvSpPr/>
          <p:nvPr/>
        </p:nvSpPr>
        <p:spPr>
          <a:xfrm>
            <a:off x="10806799" y="6996965"/>
            <a:ext cx="2336906" cy="952205"/>
          </a:xfrm>
          <a:prstGeom prst="roundRect">
            <a:avLst/>
          </a:prstGeom>
          <a:solidFill>
            <a:srgbClr val="FDB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800" dirty="0">
                <a:solidFill>
                  <a:schemeClr val="tx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Shared, </a:t>
            </a:r>
            <a:r>
              <a:rPr lang="es-ES" sz="1800" dirty="0" err="1">
                <a:solidFill>
                  <a:schemeClr val="tx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unique</a:t>
            </a:r>
            <a:r>
              <a:rPr lang="es-ES" sz="1800" dirty="0">
                <a:solidFill>
                  <a:schemeClr val="tx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 </a:t>
            </a:r>
            <a:r>
              <a:rPr lang="es-ES" sz="1800" dirty="0" err="1">
                <a:solidFill>
                  <a:schemeClr val="tx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core</a:t>
            </a:r>
            <a:r>
              <a:rPr lang="es-ES" sz="1800" dirty="0">
                <a:solidFill>
                  <a:schemeClr val="tx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, </a:t>
            </a:r>
            <a:r>
              <a:rPr lang="es-ES" sz="1800" dirty="0" err="1">
                <a:solidFill>
                  <a:schemeClr val="tx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common</a:t>
            </a:r>
            <a:r>
              <a:rPr lang="es-ES" sz="1800" dirty="0">
                <a:solidFill>
                  <a:schemeClr val="tx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, rare </a:t>
            </a:r>
            <a:r>
              <a:rPr lang="es-ES" sz="1800" dirty="0" err="1">
                <a:solidFill>
                  <a:schemeClr val="tx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assesment</a:t>
            </a:r>
            <a:endParaRPr sz="1800" dirty="0">
              <a:solidFill>
                <a:schemeClr val="tx1"/>
              </a:solidFill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250" name="Rounded Rectangle 23">
            <a:extLst>
              <a:ext uri="{FF2B5EF4-FFF2-40B4-BE49-F238E27FC236}">
                <a16:creationId xmlns:a16="http://schemas.microsoft.com/office/drawing/2014/main" id="{DADC5E12-3375-4F6B-6389-4241E317C108}"/>
              </a:ext>
            </a:extLst>
          </p:cNvPr>
          <p:cNvSpPr/>
          <p:nvPr/>
        </p:nvSpPr>
        <p:spPr>
          <a:xfrm>
            <a:off x="13360104" y="6989924"/>
            <a:ext cx="2112215" cy="992245"/>
          </a:xfrm>
          <a:prstGeom prst="roundRect">
            <a:avLst/>
          </a:prstGeom>
          <a:solidFill>
            <a:srgbClr val="FDB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800" dirty="0" err="1">
                <a:solidFill>
                  <a:schemeClr val="tx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Microdiversity</a:t>
            </a:r>
            <a:r>
              <a:rPr lang="es-ES" sz="1800" dirty="0">
                <a:solidFill>
                  <a:schemeClr val="tx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 </a:t>
            </a:r>
            <a:r>
              <a:rPr lang="es-ES" sz="1800" dirty="0" err="1">
                <a:solidFill>
                  <a:schemeClr val="tx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analysis</a:t>
            </a:r>
            <a:endParaRPr lang="es-ES" sz="1800" dirty="0">
              <a:solidFill>
                <a:schemeClr val="tx1"/>
              </a:solidFill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cxnSp>
        <p:nvCxnSpPr>
          <p:cNvPr id="252" name="Conector recto de flecha 251">
            <a:extLst>
              <a:ext uri="{FF2B5EF4-FFF2-40B4-BE49-F238E27FC236}">
                <a16:creationId xmlns:a16="http://schemas.microsoft.com/office/drawing/2014/main" id="{F3CA8F71-A54B-BD94-ACB0-58A0573EEEF2}"/>
              </a:ext>
            </a:extLst>
          </p:cNvPr>
          <p:cNvCxnSpPr>
            <a:cxnSpLocks/>
            <a:stCxn id="138" idx="3"/>
            <a:endCxn id="17" idx="1"/>
          </p:cNvCxnSpPr>
          <p:nvPr/>
        </p:nvCxnSpPr>
        <p:spPr>
          <a:xfrm flipV="1">
            <a:off x="5905987" y="6125800"/>
            <a:ext cx="2597211" cy="602392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55" name="Conector recto de flecha 254">
            <a:extLst>
              <a:ext uri="{FF2B5EF4-FFF2-40B4-BE49-F238E27FC236}">
                <a16:creationId xmlns:a16="http://schemas.microsoft.com/office/drawing/2014/main" id="{E5692B85-692B-B62F-B4E1-445FEBB76D3A}"/>
              </a:ext>
            </a:extLst>
          </p:cNvPr>
          <p:cNvCxnSpPr>
            <a:cxnSpLocks/>
            <a:stCxn id="17" idx="3"/>
            <a:endCxn id="248" idx="1"/>
          </p:cNvCxnSpPr>
          <p:nvPr/>
        </p:nvCxnSpPr>
        <p:spPr>
          <a:xfrm flipV="1">
            <a:off x="11319550" y="6020614"/>
            <a:ext cx="984610" cy="10518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58" name="Conector recto de flecha 257">
            <a:extLst>
              <a:ext uri="{FF2B5EF4-FFF2-40B4-BE49-F238E27FC236}">
                <a16:creationId xmlns:a16="http://schemas.microsoft.com/office/drawing/2014/main" id="{0683A954-F97D-CFEC-B0B5-B0E981072EAC}"/>
              </a:ext>
            </a:extLst>
          </p:cNvPr>
          <p:cNvCxnSpPr>
            <a:cxnSpLocks/>
            <a:stCxn id="248" idx="2"/>
            <a:endCxn id="24" idx="0"/>
          </p:cNvCxnSpPr>
          <p:nvPr/>
        </p:nvCxnSpPr>
        <p:spPr>
          <a:xfrm flipH="1">
            <a:off x="9516001" y="6404662"/>
            <a:ext cx="4196335" cy="58526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61" name="Conector recto de flecha 260">
            <a:extLst>
              <a:ext uri="{FF2B5EF4-FFF2-40B4-BE49-F238E27FC236}">
                <a16:creationId xmlns:a16="http://schemas.microsoft.com/office/drawing/2014/main" id="{60C2203B-E9EC-253A-C1E2-E689E066E78B}"/>
              </a:ext>
            </a:extLst>
          </p:cNvPr>
          <p:cNvCxnSpPr>
            <a:cxnSpLocks/>
            <a:stCxn id="248" idx="2"/>
            <a:endCxn id="249" idx="0"/>
          </p:cNvCxnSpPr>
          <p:nvPr/>
        </p:nvCxnSpPr>
        <p:spPr>
          <a:xfrm flipH="1">
            <a:off x="11975252" y="6404662"/>
            <a:ext cx="1737084" cy="59230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64" name="Conector recto de flecha 263">
            <a:extLst>
              <a:ext uri="{FF2B5EF4-FFF2-40B4-BE49-F238E27FC236}">
                <a16:creationId xmlns:a16="http://schemas.microsoft.com/office/drawing/2014/main" id="{8393A862-F6A7-D431-6B55-CB6F839231EF}"/>
              </a:ext>
            </a:extLst>
          </p:cNvPr>
          <p:cNvCxnSpPr>
            <a:cxnSpLocks/>
            <a:stCxn id="248" idx="2"/>
            <a:endCxn id="250" idx="0"/>
          </p:cNvCxnSpPr>
          <p:nvPr/>
        </p:nvCxnSpPr>
        <p:spPr>
          <a:xfrm>
            <a:off x="13712336" y="6404662"/>
            <a:ext cx="703876" cy="58526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77" name="Rounded Rectangle 16">
            <a:extLst>
              <a:ext uri="{FF2B5EF4-FFF2-40B4-BE49-F238E27FC236}">
                <a16:creationId xmlns:a16="http://schemas.microsoft.com/office/drawing/2014/main" id="{011442FB-8523-A201-270E-027885A50A0C}"/>
              </a:ext>
            </a:extLst>
          </p:cNvPr>
          <p:cNvSpPr/>
          <p:nvPr/>
        </p:nvSpPr>
        <p:spPr>
          <a:xfrm>
            <a:off x="10761873" y="8291907"/>
            <a:ext cx="2816352" cy="952205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latin typeface="Arial"/>
              </a:defRPr>
            </a:pPr>
            <a:r>
              <a:rPr lang="es-ES" sz="1800" b="1" dirty="0" err="1">
                <a:solidFill>
                  <a:schemeClr val="tx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Taxonomy</a:t>
            </a:r>
            <a:endParaRPr sz="1800" b="1" dirty="0">
              <a:solidFill>
                <a:schemeClr val="tx1"/>
              </a:solidFill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  <a:p>
            <a:pPr marL="400050" indent="-400050" algn="ctr">
              <a:buAutoNum type="romanLcParenBoth"/>
            </a:pPr>
            <a:r>
              <a:rPr lang="es-ES" sz="1800" dirty="0">
                <a:solidFill>
                  <a:schemeClr val="tx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vConTACT3 default</a:t>
            </a:r>
          </a:p>
          <a:p>
            <a:pPr marL="400050" indent="-400050" algn="ctr">
              <a:buAutoNum type="romanLcParenBoth"/>
            </a:pPr>
            <a:r>
              <a:rPr lang="es-ES" sz="1800" dirty="0" err="1">
                <a:solidFill>
                  <a:schemeClr val="tx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geNomad</a:t>
            </a:r>
            <a:endParaRPr sz="1800" dirty="0">
              <a:solidFill>
                <a:schemeClr val="tx1"/>
              </a:solidFill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278" name="CuadroTexto 277">
            <a:extLst>
              <a:ext uri="{FF2B5EF4-FFF2-40B4-BE49-F238E27FC236}">
                <a16:creationId xmlns:a16="http://schemas.microsoft.com/office/drawing/2014/main" id="{9A6D2E08-F3FF-5662-BF45-38563009D342}"/>
              </a:ext>
            </a:extLst>
          </p:cNvPr>
          <p:cNvSpPr txBox="1"/>
          <p:nvPr/>
        </p:nvSpPr>
        <p:spPr>
          <a:xfrm rot="16200000">
            <a:off x="15353430" y="8462700"/>
            <a:ext cx="1259550" cy="648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txBody>
          <a:bodyPr wrap="square" rtlCol="0" anchor="ctr">
            <a:spAutoFit/>
          </a:bodyPr>
          <a:lstStyle/>
          <a:p>
            <a:pPr algn="ctr"/>
            <a:r>
              <a:rPr lang="es-ES" sz="2000" b="1" dirty="0" err="1"/>
              <a:t>Taxonomy</a:t>
            </a:r>
            <a:endParaRPr lang="es-ES" sz="2000" b="1" dirty="0"/>
          </a:p>
        </p:txBody>
      </p:sp>
      <p:cxnSp>
        <p:nvCxnSpPr>
          <p:cNvPr id="280" name="Conector recto de flecha 279">
            <a:extLst>
              <a:ext uri="{FF2B5EF4-FFF2-40B4-BE49-F238E27FC236}">
                <a16:creationId xmlns:a16="http://schemas.microsoft.com/office/drawing/2014/main" id="{AB364C98-DE97-38C1-745B-7851803F2A43}"/>
              </a:ext>
            </a:extLst>
          </p:cNvPr>
          <p:cNvCxnSpPr>
            <a:cxnSpLocks/>
            <a:stCxn id="138" idx="3"/>
            <a:endCxn id="277" idx="1"/>
          </p:cNvCxnSpPr>
          <p:nvPr/>
        </p:nvCxnSpPr>
        <p:spPr>
          <a:xfrm flipV="1">
            <a:off x="5905987" y="8768010"/>
            <a:ext cx="4855886" cy="338171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82" name="Rounded Rectangle 16">
            <a:extLst>
              <a:ext uri="{FF2B5EF4-FFF2-40B4-BE49-F238E27FC236}">
                <a16:creationId xmlns:a16="http://schemas.microsoft.com/office/drawing/2014/main" id="{E87B843D-E57C-75FD-9925-4E19F10F57E7}"/>
              </a:ext>
            </a:extLst>
          </p:cNvPr>
          <p:cNvSpPr/>
          <p:nvPr/>
        </p:nvSpPr>
        <p:spPr>
          <a:xfrm>
            <a:off x="10714836" y="9553849"/>
            <a:ext cx="2816352" cy="2332473"/>
          </a:xfrm>
          <a:prstGeom prst="round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latin typeface="Arial"/>
              </a:defRPr>
            </a:pPr>
            <a:r>
              <a:rPr lang="es-ES" sz="1800" b="1" dirty="0">
                <a:solidFill>
                  <a:schemeClr val="tx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Host </a:t>
            </a:r>
            <a:r>
              <a:rPr lang="es-ES" sz="1800" b="1" dirty="0" err="1">
                <a:solidFill>
                  <a:schemeClr val="tx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prediction</a:t>
            </a:r>
            <a:endParaRPr sz="1800" b="1" dirty="0">
              <a:solidFill>
                <a:schemeClr val="tx1"/>
              </a:solidFill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  <a:p>
            <a:pPr algn="ctr"/>
            <a:r>
              <a:rPr lang="es-ES" sz="1800" dirty="0">
                <a:solidFill>
                  <a:schemeClr val="tx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(i) </a:t>
            </a:r>
            <a:r>
              <a:rPr lang="es-ES" sz="1800" dirty="0" err="1">
                <a:solidFill>
                  <a:schemeClr val="tx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iPHoP</a:t>
            </a:r>
            <a:endParaRPr lang="es-ES" sz="1800" dirty="0">
              <a:solidFill>
                <a:schemeClr val="tx1"/>
              </a:solidFill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  <a:p>
            <a:pPr algn="ctr"/>
            <a:r>
              <a:rPr lang="es-ES" sz="1800" dirty="0">
                <a:solidFill>
                  <a:schemeClr val="tx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- default DB</a:t>
            </a:r>
          </a:p>
          <a:p>
            <a:pPr algn="ctr"/>
            <a:r>
              <a:rPr lang="es-ES" sz="1800" dirty="0">
                <a:solidFill>
                  <a:schemeClr val="tx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- local </a:t>
            </a:r>
            <a:r>
              <a:rPr lang="es-ES" sz="1800" dirty="0" err="1">
                <a:solidFill>
                  <a:schemeClr val="tx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MAGs</a:t>
            </a:r>
            <a:endParaRPr lang="es-ES" sz="1800" dirty="0">
              <a:solidFill>
                <a:schemeClr val="tx1"/>
              </a:solidFill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  <a:p>
            <a:pPr algn="ctr"/>
            <a:r>
              <a:rPr lang="es-ES" sz="1800" dirty="0">
                <a:solidFill>
                  <a:schemeClr val="tx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(</a:t>
            </a:r>
            <a:r>
              <a:rPr lang="es-ES" sz="1800" dirty="0" err="1">
                <a:solidFill>
                  <a:schemeClr val="tx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ii</a:t>
            </a:r>
            <a:r>
              <a:rPr lang="es-ES" sz="1800" dirty="0">
                <a:solidFill>
                  <a:schemeClr val="tx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) CRISPR </a:t>
            </a:r>
            <a:r>
              <a:rPr lang="es-ES" sz="1800" dirty="0" err="1">
                <a:solidFill>
                  <a:schemeClr val="tx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spacer</a:t>
            </a:r>
            <a:r>
              <a:rPr lang="es-ES" sz="1800" dirty="0">
                <a:solidFill>
                  <a:schemeClr val="tx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 </a:t>
            </a:r>
            <a:r>
              <a:rPr lang="es-ES" sz="1800" dirty="0" err="1">
                <a:solidFill>
                  <a:schemeClr val="tx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matching</a:t>
            </a:r>
            <a:endParaRPr lang="es-ES" sz="1800" dirty="0">
              <a:solidFill>
                <a:schemeClr val="tx1"/>
              </a:solidFill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  <a:p>
            <a:pPr algn="ctr"/>
            <a:r>
              <a:rPr lang="es-ES" sz="1800" dirty="0">
                <a:solidFill>
                  <a:schemeClr val="tx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- </a:t>
            </a:r>
            <a:r>
              <a:rPr lang="es-ES" sz="1800" dirty="0" err="1">
                <a:solidFill>
                  <a:schemeClr val="tx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MinCED</a:t>
            </a:r>
            <a:endParaRPr lang="es-ES" sz="1800" dirty="0">
              <a:solidFill>
                <a:schemeClr val="tx1"/>
              </a:solidFill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  <a:p>
            <a:pPr algn="ctr"/>
            <a:r>
              <a:rPr lang="es-ES" sz="1800" dirty="0">
                <a:solidFill>
                  <a:schemeClr val="tx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- </a:t>
            </a:r>
            <a:r>
              <a:rPr lang="es-ES" sz="1800" dirty="0" err="1">
                <a:solidFill>
                  <a:schemeClr val="tx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BLASTn</a:t>
            </a:r>
            <a:endParaRPr lang="es-ES" sz="1800" dirty="0">
              <a:solidFill>
                <a:schemeClr val="tx1"/>
              </a:solidFill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283" name="CuadroTexto 282">
            <a:extLst>
              <a:ext uri="{FF2B5EF4-FFF2-40B4-BE49-F238E27FC236}">
                <a16:creationId xmlns:a16="http://schemas.microsoft.com/office/drawing/2014/main" id="{F2B5E711-5548-9E35-5083-F03BC528A398}"/>
              </a:ext>
            </a:extLst>
          </p:cNvPr>
          <p:cNvSpPr txBox="1"/>
          <p:nvPr/>
        </p:nvSpPr>
        <p:spPr>
          <a:xfrm rot="16200000">
            <a:off x="15000739" y="10431357"/>
            <a:ext cx="1956009" cy="64800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txBody>
          <a:bodyPr wrap="square" rtlCol="0" anchor="ctr">
            <a:spAutoFit/>
          </a:bodyPr>
          <a:lstStyle/>
          <a:p>
            <a:pPr algn="ctr"/>
            <a:r>
              <a:rPr lang="es-ES" sz="2000" b="1" dirty="0"/>
              <a:t>Host</a:t>
            </a:r>
          </a:p>
        </p:txBody>
      </p:sp>
      <p:cxnSp>
        <p:nvCxnSpPr>
          <p:cNvPr id="285" name="Conector recto de flecha 284">
            <a:extLst>
              <a:ext uri="{FF2B5EF4-FFF2-40B4-BE49-F238E27FC236}">
                <a16:creationId xmlns:a16="http://schemas.microsoft.com/office/drawing/2014/main" id="{AF4CA577-85A5-92EC-37C2-7D045FC0010C}"/>
              </a:ext>
            </a:extLst>
          </p:cNvPr>
          <p:cNvCxnSpPr>
            <a:cxnSpLocks/>
            <a:stCxn id="138" idx="3"/>
            <a:endCxn id="282" idx="1"/>
          </p:cNvCxnSpPr>
          <p:nvPr/>
        </p:nvCxnSpPr>
        <p:spPr>
          <a:xfrm flipV="1">
            <a:off x="5905987" y="10720086"/>
            <a:ext cx="4808849" cy="142963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87" name="Rounded Rectangle 16">
            <a:extLst>
              <a:ext uri="{FF2B5EF4-FFF2-40B4-BE49-F238E27FC236}">
                <a16:creationId xmlns:a16="http://schemas.microsoft.com/office/drawing/2014/main" id="{F524C094-51D1-3AD6-F7D6-B32F2D950B48}"/>
              </a:ext>
            </a:extLst>
          </p:cNvPr>
          <p:cNvSpPr/>
          <p:nvPr/>
        </p:nvSpPr>
        <p:spPr>
          <a:xfrm>
            <a:off x="10670794" y="12267976"/>
            <a:ext cx="2816352" cy="1122113"/>
          </a:xfrm>
          <a:prstGeom prst="roundRect">
            <a:avLst/>
          </a:prstGeom>
          <a:solidFill>
            <a:srgbClr val="E0D1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latin typeface="Arial"/>
              </a:defRPr>
            </a:pPr>
            <a:r>
              <a:rPr lang="es-ES" sz="1800" b="1" dirty="0">
                <a:solidFill>
                  <a:schemeClr val="tx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AMG </a:t>
            </a:r>
            <a:r>
              <a:rPr lang="es-ES" sz="1800" b="1" dirty="0" err="1">
                <a:solidFill>
                  <a:schemeClr val="tx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prediction</a:t>
            </a:r>
            <a:endParaRPr sz="1800" b="1" dirty="0">
              <a:solidFill>
                <a:schemeClr val="tx1"/>
              </a:solidFill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  <a:p>
            <a:pPr algn="ctr"/>
            <a:r>
              <a:rPr lang="es-ES" sz="1800" dirty="0">
                <a:solidFill>
                  <a:schemeClr val="tx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-DRAMv &amp; DRAM (</a:t>
            </a:r>
            <a:r>
              <a:rPr lang="es-ES" sz="1800" dirty="0" err="1">
                <a:solidFill>
                  <a:schemeClr val="tx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MAGs</a:t>
            </a:r>
            <a:r>
              <a:rPr lang="es-ES" sz="1800" dirty="0">
                <a:solidFill>
                  <a:schemeClr val="tx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)</a:t>
            </a:r>
          </a:p>
          <a:p>
            <a:pPr algn="ctr"/>
            <a:r>
              <a:rPr lang="es-ES" sz="1800" dirty="0">
                <a:solidFill>
                  <a:schemeClr val="tx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-KEGG </a:t>
            </a:r>
            <a:r>
              <a:rPr lang="es-ES" sz="1800" dirty="0" err="1">
                <a:solidFill>
                  <a:schemeClr val="tx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mapper</a:t>
            </a:r>
            <a:endParaRPr sz="1800" dirty="0">
              <a:solidFill>
                <a:schemeClr val="tx1"/>
              </a:solidFill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288" name="CuadroTexto 287">
            <a:extLst>
              <a:ext uri="{FF2B5EF4-FFF2-40B4-BE49-F238E27FC236}">
                <a16:creationId xmlns:a16="http://schemas.microsoft.com/office/drawing/2014/main" id="{4D7B9F86-4902-C6EA-D7C1-7DA45B7E510F}"/>
              </a:ext>
            </a:extLst>
          </p:cNvPr>
          <p:cNvSpPr txBox="1"/>
          <p:nvPr/>
        </p:nvSpPr>
        <p:spPr>
          <a:xfrm rot="16200000">
            <a:off x="15190202" y="12558782"/>
            <a:ext cx="1577083" cy="648000"/>
          </a:xfrm>
          <a:prstGeom prst="rect">
            <a:avLst/>
          </a:prstGeom>
          <a:solidFill>
            <a:srgbClr val="E0D136"/>
          </a:solidFill>
          <a:ln>
            <a:noFill/>
          </a:ln>
        </p:spPr>
        <p:txBody>
          <a:bodyPr wrap="square" rtlCol="0" anchor="ctr">
            <a:spAutoFit/>
          </a:bodyPr>
          <a:lstStyle/>
          <a:p>
            <a:pPr algn="ctr"/>
            <a:r>
              <a:rPr lang="es-ES" sz="2000" b="1" dirty="0" err="1"/>
              <a:t>Functionality</a:t>
            </a:r>
            <a:endParaRPr lang="es-ES" sz="2000" b="1" dirty="0"/>
          </a:p>
        </p:txBody>
      </p:sp>
      <p:cxnSp>
        <p:nvCxnSpPr>
          <p:cNvPr id="291" name="Conector recto de flecha 290">
            <a:extLst>
              <a:ext uri="{FF2B5EF4-FFF2-40B4-BE49-F238E27FC236}">
                <a16:creationId xmlns:a16="http://schemas.microsoft.com/office/drawing/2014/main" id="{C11D2A30-0122-2149-F099-F91F82A85C6D}"/>
              </a:ext>
            </a:extLst>
          </p:cNvPr>
          <p:cNvCxnSpPr>
            <a:cxnSpLocks/>
            <a:stCxn id="138" idx="3"/>
            <a:endCxn id="287" idx="1"/>
          </p:cNvCxnSpPr>
          <p:nvPr/>
        </p:nvCxnSpPr>
        <p:spPr>
          <a:xfrm>
            <a:off x="5905987" y="12149721"/>
            <a:ext cx="4764807" cy="67931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20" name="Conector recto de flecha 319">
            <a:extLst>
              <a:ext uri="{FF2B5EF4-FFF2-40B4-BE49-F238E27FC236}">
                <a16:creationId xmlns:a16="http://schemas.microsoft.com/office/drawing/2014/main" id="{261F1068-6C78-9B7C-E59B-2B15C844F818}"/>
              </a:ext>
            </a:extLst>
          </p:cNvPr>
          <p:cNvCxnSpPr>
            <a:cxnSpLocks/>
            <a:stCxn id="138" idx="2"/>
            <a:endCxn id="321" idx="0"/>
          </p:cNvCxnSpPr>
          <p:nvPr/>
        </p:nvCxnSpPr>
        <p:spPr>
          <a:xfrm flipH="1">
            <a:off x="2515820" y="12829033"/>
            <a:ext cx="2110007" cy="22597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21" name="Rounded Rectangle 11">
            <a:extLst>
              <a:ext uri="{FF2B5EF4-FFF2-40B4-BE49-F238E27FC236}">
                <a16:creationId xmlns:a16="http://schemas.microsoft.com/office/drawing/2014/main" id="{3C9309BC-F0CE-230C-63B8-1A6FDFF634AE}"/>
              </a:ext>
            </a:extLst>
          </p:cNvPr>
          <p:cNvSpPr/>
          <p:nvPr/>
        </p:nvSpPr>
        <p:spPr>
          <a:xfrm>
            <a:off x="1111563" y="13055003"/>
            <a:ext cx="2808514" cy="908183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800" b="1" dirty="0" err="1">
                <a:solidFill>
                  <a:schemeClr val="tx1"/>
                </a:solidFill>
              </a:rPr>
              <a:t>Quality</a:t>
            </a:r>
            <a:r>
              <a:rPr lang="es-ES" sz="1800" b="1" dirty="0">
                <a:solidFill>
                  <a:schemeClr val="tx1"/>
                </a:solidFill>
              </a:rPr>
              <a:t> &amp; </a:t>
            </a:r>
            <a:r>
              <a:rPr lang="es-ES" sz="1800" b="1" dirty="0" err="1">
                <a:solidFill>
                  <a:schemeClr val="tx1"/>
                </a:solidFill>
              </a:rPr>
              <a:t>completeness</a:t>
            </a:r>
            <a:endParaRPr lang="es-ES" sz="1800" b="1" dirty="0">
              <a:solidFill>
                <a:schemeClr val="tx1"/>
              </a:solidFill>
            </a:endParaRPr>
          </a:p>
          <a:p>
            <a:pPr algn="ctr"/>
            <a:r>
              <a:rPr lang="es-ES" sz="1800" b="1" dirty="0" err="1">
                <a:solidFill>
                  <a:schemeClr val="tx1"/>
                </a:solidFill>
              </a:rPr>
              <a:t>assessment</a:t>
            </a:r>
            <a:endParaRPr lang="es-ES" sz="1800" b="1" dirty="0">
              <a:solidFill>
                <a:schemeClr val="tx1"/>
              </a:solidFill>
            </a:endParaRPr>
          </a:p>
          <a:p>
            <a:pPr algn="ctr"/>
            <a:r>
              <a:rPr lang="es-ES" sz="1800" dirty="0" err="1">
                <a:solidFill>
                  <a:schemeClr val="tx1"/>
                </a:solidFill>
              </a:rPr>
              <a:t>Check</a:t>
            </a:r>
            <a:r>
              <a:rPr lang="es-ES" sz="1800" dirty="0" err="1">
                <a:solidFill>
                  <a:schemeClr val="tx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V</a:t>
            </a:r>
            <a:endParaRPr lang="es-ES" sz="1800" dirty="0">
              <a:solidFill>
                <a:schemeClr val="tx1"/>
              </a:solidFill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334" name="Rounded Rectangle 11">
            <a:extLst>
              <a:ext uri="{FF2B5EF4-FFF2-40B4-BE49-F238E27FC236}">
                <a16:creationId xmlns:a16="http://schemas.microsoft.com/office/drawing/2014/main" id="{DB823F5A-3E97-27FB-B34F-0AA005A944C8}"/>
              </a:ext>
            </a:extLst>
          </p:cNvPr>
          <p:cNvSpPr/>
          <p:nvPr/>
        </p:nvSpPr>
        <p:spPr>
          <a:xfrm>
            <a:off x="5818982" y="13052572"/>
            <a:ext cx="2945555" cy="908183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800" b="1" dirty="0" err="1">
                <a:solidFill>
                  <a:schemeClr val="tx1"/>
                </a:solidFill>
              </a:rPr>
              <a:t>Lifestyle</a:t>
            </a:r>
            <a:r>
              <a:rPr lang="es-ES" sz="1800" b="1" dirty="0">
                <a:solidFill>
                  <a:schemeClr val="tx1"/>
                </a:solidFill>
              </a:rPr>
              <a:t> </a:t>
            </a:r>
            <a:r>
              <a:rPr lang="es-ES" sz="1800" b="1" dirty="0" err="1">
                <a:solidFill>
                  <a:schemeClr val="tx1"/>
                </a:solidFill>
              </a:rPr>
              <a:t>prediction</a:t>
            </a:r>
            <a:endParaRPr lang="es-ES" sz="1800" b="1" dirty="0">
              <a:solidFill>
                <a:schemeClr val="tx1"/>
              </a:solidFill>
            </a:endParaRPr>
          </a:p>
          <a:p>
            <a:pPr algn="ctr"/>
            <a:r>
              <a:rPr lang="es-ES" sz="1800" b="1" dirty="0">
                <a:solidFill>
                  <a:schemeClr val="tx1"/>
                </a:solidFill>
              </a:rPr>
              <a:t>(</a:t>
            </a:r>
            <a:r>
              <a:rPr lang="es-ES" sz="1800" b="1" dirty="0" err="1">
                <a:solidFill>
                  <a:schemeClr val="tx1"/>
                </a:solidFill>
              </a:rPr>
              <a:t>lytic</a:t>
            </a:r>
            <a:r>
              <a:rPr lang="es-ES" sz="1800" b="1" dirty="0">
                <a:solidFill>
                  <a:schemeClr val="tx1"/>
                </a:solidFill>
              </a:rPr>
              <a:t> vs </a:t>
            </a:r>
            <a:r>
              <a:rPr lang="es-ES" sz="1800" b="1" dirty="0" err="1">
                <a:solidFill>
                  <a:schemeClr val="tx1"/>
                </a:solidFill>
              </a:rPr>
              <a:t>temperate</a:t>
            </a:r>
            <a:r>
              <a:rPr lang="es-ES" sz="1800" b="1" dirty="0">
                <a:solidFill>
                  <a:schemeClr val="tx1"/>
                </a:solidFill>
              </a:rPr>
              <a:t>)</a:t>
            </a:r>
          </a:p>
          <a:p>
            <a:pPr algn="ctr"/>
            <a:r>
              <a:rPr lang="es-ES" sz="1800" dirty="0">
                <a:solidFill>
                  <a:schemeClr val="tx1"/>
                </a:solidFill>
              </a:rPr>
              <a:t>VIBRANT</a:t>
            </a:r>
          </a:p>
        </p:txBody>
      </p:sp>
      <p:cxnSp>
        <p:nvCxnSpPr>
          <p:cNvPr id="336" name="Conector recto de flecha 335">
            <a:extLst>
              <a:ext uri="{FF2B5EF4-FFF2-40B4-BE49-F238E27FC236}">
                <a16:creationId xmlns:a16="http://schemas.microsoft.com/office/drawing/2014/main" id="{E7F57869-81D9-F7FC-4E51-525840A059E7}"/>
              </a:ext>
            </a:extLst>
          </p:cNvPr>
          <p:cNvCxnSpPr>
            <a:cxnSpLocks/>
            <a:stCxn id="138" idx="2"/>
            <a:endCxn id="334" idx="1"/>
          </p:cNvCxnSpPr>
          <p:nvPr/>
        </p:nvCxnSpPr>
        <p:spPr>
          <a:xfrm>
            <a:off x="4625827" y="12829033"/>
            <a:ext cx="1193155" cy="67763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>
            <a:extLst>
              <a:ext uri="{FF2B5EF4-FFF2-40B4-BE49-F238E27FC236}">
                <a16:creationId xmlns:a16="http://schemas.microsoft.com/office/drawing/2014/main" id="{7B07C735-1CA7-7300-B013-B7EF7E9C23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0454" y="920262"/>
            <a:ext cx="12538906" cy="12592720"/>
          </a:xfrm>
          <a:prstGeom prst="rect">
            <a:avLst/>
          </a:prstGeom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4F8D3F60-1853-A79F-8221-C66CE1CF991C}"/>
              </a:ext>
            </a:extLst>
          </p:cNvPr>
          <p:cNvSpPr txBox="1"/>
          <p:nvPr/>
        </p:nvSpPr>
        <p:spPr>
          <a:xfrm>
            <a:off x="264459" y="13512982"/>
            <a:ext cx="13487400" cy="4801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dirty="0"/>
              <a:t>https://</a:t>
            </a:r>
            <a:r>
              <a:rPr lang="es-ES" dirty="0" err="1"/>
              <a:t>www.nature.com</a:t>
            </a:r>
            <a:r>
              <a:rPr lang="es-ES" dirty="0"/>
              <a:t>/</a:t>
            </a:r>
            <a:r>
              <a:rPr lang="es-ES" dirty="0" err="1"/>
              <a:t>articles</a:t>
            </a:r>
            <a:r>
              <a:rPr lang="es-ES" dirty="0"/>
              <a:t>/s41467-026-68914-2#Sec10</a:t>
            </a:r>
          </a:p>
        </p:txBody>
      </p:sp>
    </p:spTree>
    <p:extLst>
      <p:ext uri="{BB962C8B-B14F-4D97-AF65-F5344CB8AC3E}">
        <p14:creationId xmlns:p14="http://schemas.microsoft.com/office/powerpoint/2010/main" val="18456209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312</TotalTime>
  <Words>398</Words>
  <Application>Microsoft Macintosh PowerPoint</Application>
  <PresentationFormat>Personalizado</PresentationFormat>
  <Paragraphs>109</Paragraphs>
  <Slides>2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</vt:i4>
      </vt:variant>
    </vt:vector>
  </HeadingPairs>
  <TitlesOfParts>
    <vt:vector size="7" baseType="lpstr">
      <vt:lpstr>Aptos</vt:lpstr>
      <vt:lpstr>Arial</vt:lpstr>
      <vt:lpstr>Calibri</vt:lpstr>
      <vt:lpstr>Microsoft Sans Serif</vt:lpstr>
      <vt:lpstr>Office Theme</vt:lpstr>
      <vt:lpstr>Presentación de PowerPoint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ANTONIO CASTELLANO HINOJOSA</cp:lastModifiedBy>
  <cp:revision>16</cp:revision>
  <dcterms:created xsi:type="dcterms:W3CDTF">2013-01-27T09:14:16Z</dcterms:created>
  <dcterms:modified xsi:type="dcterms:W3CDTF">2026-05-11T22:28:01Z</dcterms:modified>
  <cp:category/>
</cp:coreProperties>
</file>